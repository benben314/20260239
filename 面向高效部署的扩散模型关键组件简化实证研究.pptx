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4.svg" ContentType="image/svg+xml"/>
  <Override PartName="/ppt/media/image26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6.svg" ContentType="image/svg+xml"/>
  <Override PartName="/ppt/media/image48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24"/>
  </p:notesMasterIdLst>
  <p:handoutMasterIdLst>
    <p:handoutMasterId r:id="rId25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5" r:id="rId14"/>
    <p:sldId id="27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notesMaster" Target="notesMasters/notes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tags" Target="../tags/tag75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8" Type="http://schemas.openxmlformats.org/officeDocument/2006/relationships/tags" Target="../tags/tag86.xml"/><Relationship Id="rId17" Type="http://schemas.openxmlformats.org/officeDocument/2006/relationships/tags" Target="../tags/tag85.xml"/><Relationship Id="rId16" Type="http://schemas.openxmlformats.org/officeDocument/2006/relationships/tags" Target="../tags/tag84.xml"/><Relationship Id="rId15" Type="http://schemas.openxmlformats.org/officeDocument/2006/relationships/tags" Target="../tags/tag83.xml"/><Relationship Id="rId14" Type="http://schemas.openxmlformats.org/officeDocument/2006/relationships/tags" Target="../tags/tag82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Ellipse 36-2082&amp;9912"/>
          <p:cNvSpPr/>
          <p:nvPr userDrawn="1"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Ellipse 37 (Stroke)_#color-2083&amp;10105"/>
          <p:cNvSpPr/>
          <p:nvPr userDrawn="1"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图形 6"/>
          <p:cNvSpPr/>
          <p:nvPr userDrawn="1">
            <p:custDataLst>
              <p:tags r:id="rId7"/>
            </p:custDataLst>
          </p:nvPr>
        </p:nvSpPr>
        <p:spPr>
          <a:xfrm>
            <a:off x="8343265" y="3605530"/>
            <a:ext cx="1610360" cy="242570"/>
          </a:xfrm>
          <a:custGeom>
            <a:avLst/>
            <a:gdLst>
              <a:gd name="connsiteX0" fmla="*/ 75233 w 1100583"/>
              <a:gd name="connsiteY0" fmla="*/ 165422 h 165421"/>
              <a:gd name="connsiteX1" fmla="*/ 119435 w 1100583"/>
              <a:gd name="connsiteY1" fmla="*/ 156047 h 165421"/>
              <a:gd name="connsiteX2" fmla="*/ 119435 w 1100583"/>
              <a:gd name="connsiteY2" fmla="*/ 137852 h 165421"/>
              <a:gd name="connsiteX3" fmla="*/ 77688 w 1100583"/>
              <a:gd name="connsiteY3" fmla="*/ 148568 h 165421"/>
              <a:gd name="connsiteX4" fmla="*/ 35607 w 1100583"/>
              <a:gd name="connsiteY4" fmla="*/ 131266 h 165421"/>
              <a:gd name="connsiteX5" fmla="*/ 19645 w 1100583"/>
              <a:gd name="connsiteY5" fmla="*/ 84609 h 165421"/>
              <a:gd name="connsiteX6" fmla="*/ 36723 w 1100583"/>
              <a:gd name="connsiteY6" fmla="*/ 35384 h 165421"/>
              <a:gd name="connsiteX7" fmla="*/ 81483 w 1100583"/>
              <a:gd name="connsiteY7" fmla="*/ 16966 h 165421"/>
              <a:gd name="connsiteX8" fmla="*/ 119435 w 1100583"/>
              <a:gd name="connsiteY8" fmla="*/ 26566 h 165421"/>
              <a:gd name="connsiteX9" fmla="*/ 119435 w 1100583"/>
              <a:gd name="connsiteY9" fmla="*/ 6586 h 165421"/>
              <a:gd name="connsiteX10" fmla="*/ 81707 w 1100583"/>
              <a:gd name="connsiteY10" fmla="*/ 0 h 165421"/>
              <a:gd name="connsiteX11" fmla="*/ 23106 w 1100583"/>
              <a:gd name="connsiteY11" fmla="*/ 23664 h 165421"/>
              <a:gd name="connsiteX12" fmla="*/ 0 w 1100583"/>
              <a:gd name="connsiteY12" fmla="*/ 85725 h 165421"/>
              <a:gd name="connsiteX13" fmla="*/ 20538 w 1100583"/>
              <a:gd name="connsiteY13" fmla="*/ 143434 h 165421"/>
              <a:gd name="connsiteX14" fmla="*/ 75233 w 1100583"/>
              <a:gd name="connsiteY14" fmla="*/ 165422 h 165421"/>
              <a:gd name="connsiteX15" fmla="*/ 210294 w 1100583"/>
              <a:gd name="connsiteY15" fmla="*/ 165422 h 165421"/>
              <a:gd name="connsiteX16" fmla="*/ 155712 w 1100583"/>
              <a:gd name="connsiteY16" fmla="*/ 142987 h 165421"/>
              <a:gd name="connsiteX17" fmla="*/ 135284 w 1100583"/>
              <a:gd name="connsiteY17" fmla="*/ 84609 h 165421"/>
              <a:gd name="connsiteX18" fmla="*/ 156158 w 1100583"/>
              <a:gd name="connsiteY18" fmla="*/ 22994 h 165421"/>
              <a:gd name="connsiteX19" fmla="*/ 212973 w 1100583"/>
              <a:gd name="connsiteY19" fmla="*/ 0 h 165421"/>
              <a:gd name="connsiteX20" fmla="*/ 266328 w 1100583"/>
              <a:gd name="connsiteY20" fmla="*/ 22324 h 165421"/>
              <a:gd name="connsiteX21" fmla="*/ 286643 w 1100583"/>
              <a:gd name="connsiteY21" fmla="*/ 80702 h 165421"/>
              <a:gd name="connsiteX22" fmla="*/ 265882 w 1100583"/>
              <a:gd name="connsiteY22" fmla="*/ 142652 h 165421"/>
              <a:gd name="connsiteX23" fmla="*/ 210294 w 1100583"/>
              <a:gd name="connsiteY23" fmla="*/ 165422 h 165421"/>
              <a:gd name="connsiteX24" fmla="*/ 211634 w 1100583"/>
              <a:gd name="connsiteY24" fmla="*/ 16966 h 165421"/>
              <a:gd name="connsiteX25" fmla="*/ 170669 w 1100583"/>
              <a:gd name="connsiteY25" fmla="*/ 35161 h 165421"/>
              <a:gd name="connsiteX26" fmla="*/ 154931 w 1100583"/>
              <a:gd name="connsiteY26" fmla="*/ 82934 h 165421"/>
              <a:gd name="connsiteX27" fmla="*/ 170222 w 1100583"/>
              <a:gd name="connsiteY27" fmla="*/ 130597 h 165421"/>
              <a:gd name="connsiteX28" fmla="*/ 210294 w 1100583"/>
              <a:gd name="connsiteY28" fmla="*/ 148568 h 165421"/>
              <a:gd name="connsiteX29" fmla="*/ 251817 w 1100583"/>
              <a:gd name="connsiteY29" fmla="*/ 131378 h 165421"/>
              <a:gd name="connsiteX30" fmla="*/ 266998 w 1100583"/>
              <a:gd name="connsiteY30" fmla="*/ 83269 h 165421"/>
              <a:gd name="connsiteX31" fmla="*/ 252264 w 1100583"/>
              <a:gd name="connsiteY31" fmla="*/ 34268 h 165421"/>
              <a:gd name="connsiteX32" fmla="*/ 211634 w 1100583"/>
              <a:gd name="connsiteY32" fmla="*/ 16966 h 165421"/>
              <a:gd name="connsiteX33" fmla="*/ 1003581 w 1100583"/>
              <a:gd name="connsiteY33" fmla="*/ 134169 h 165421"/>
              <a:gd name="connsiteX34" fmla="*/ 1003581 w 1100583"/>
              <a:gd name="connsiteY34" fmla="*/ 156269 h 165421"/>
              <a:gd name="connsiteX35" fmla="*/ 1011849 w 1100583"/>
              <a:gd name="connsiteY35" fmla="*/ 160177 h 165421"/>
              <a:gd name="connsiteX36" fmla="*/ 1022898 w 1100583"/>
              <a:gd name="connsiteY36" fmla="*/ 162966 h 165421"/>
              <a:gd name="connsiteX37" fmla="*/ 1034281 w 1100583"/>
              <a:gd name="connsiteY37" fmla="*/ 164752 h 165421"/>
              <a:gd name="connsiteX38" fmla="*/ 1043653 w 1100583"/>
              <a:gd name="connsiteY38" fmla="*/ 165422 h 165421"/>
              <a:gd name="connsiteX39" fmla="*/ 1065313 w 1100583"/>
              <a:gd name="connsiteY39" fmla="*/ 163079 h 165421"/>
              <a:gd name="connsiteX40" fmla="*/ 1083391 w 1100583"/>
              <a:gd name="connsiteY40" fmla="*/ 155711 h 165421"/>
              <a:gd name="connsiteX41" fmla="*/ 1095898 w 1100583"/>
              <a:gd name="connsiteY41" fmla="*/ 142429 h 165421"/>
              <a:gd name="connsiteX42" fmla="*/ 1100584 w 1100583"/>
              <a:gd name="connsiteY42" fmla="*/ 122337 h 165421"/>
              <a:gd name="connsiteX43" fmla="*/ 1097126 w 1100583"/>
              <a:gd name="connsiteY43" fmla="*/ 106487 h 165421"/>
              <a:gd name="connsiteX44" fmla="*/ 1087973 w 1100583"/>
              <a:gd name="connsiteY44" fmla="*/ 93873 h 165421"/>
              <a:gd name="connsiteX45" fmla="*/ 1074467 w 1100583"/>
              <a:gd name="connsiteY45" fmla="*/ 83493 h 165421"/>
              <a:gd name="connsiteX46" fmla="*/ 1058169 w 1100583"/>
              <a:gd name="connsiteY46" fmla="*/ 74563 h 165421"/>
              <a:gd name="connsiteX47" fmla="*/ 1043320 w 1100583"/>
              <a:gd name="connsiteY47" fmla="*/ 66973 h 165421"/>
              <a:gd name="connsiteX48" fmla="*/ 1032499 w 1100583"/>
              <a:gd name="connsiteY48" fmla="*/ 59829 h 165421"/>
              <a:gd name="connsiteX49" fmla="*/ 1025689 w 1100583"/>
              <a:gd name="connsiteY49" fmla="*/ 51681 h 165421"/>
              <a:gd name="connsiteX50" fmla="*/ 1023451 w 1100583"/>
              <a:gd name="connsiteY50" fmla="*/ 41077 h 165421"/>
              <a:gd name="connsiteX51" fmla="*/ 1026470 w 1100583"/>
              <a:gd name="connsiteY51" fmla="*/ 29914 h 165421"/>
              <a:gd name="connsiteX52" fmla="*/ 1034281 w 1100583"/>
              <a:gd name="connsiteY52" fmla="*/ 22436 h 165421"/>
              <a:gd name="connsiteX53" fmla="*/ 1045225 w 1100583"/>
              <a:gd name="connsiteY53" fmla="*/ 18306 h 165421"/>
              <a:gd name="connsiteX54" fmla="*/ 1057502 w 1100583"/>
              <a:gd name="connsiteY54" fmla="*/ 16966 h 165421"/>
              <a:gd name="connsiteX55" fmla="*/ 1093888 w 1100583"/>
              <a:gd name="connsiteY55" fmla="*/ 26789 h 165421"/>
              <a:gd name="connsiteX56" fmla="*/ 1093888 w 1100583"/>
              <a:gd name="connsiteY56" fmla="*/ 5693 h 165421"/>
              <a:gd name="connsiteX57" fmla="*/ 1059398 w 1100583"/>
              <a:gd name="connsiteY57" fmla="*/ 0 h 165421"/>
              <a:gd name="connsiteX58" fmla="*/ 1038967 w 1100583"/>
              <a:gd name="connsiteY58" fmla="*/ 2567 h 165421"/>
              <a:gd name="connsiteX59" fmla="*/ 1021222 w 1100583"/>
              <a:gd name="connsiteY59" fmla="*/ 10381 h 165421"/>
              <a:gd name="connsiteX60" fmla="*/ 1008611 w 1100583"/>
              <a:gd name="connsiteY60" fmla="*/ 23775 h 165421"/>
              <a:gd name="connsiteX61" fmla="*/ 1003810 w 1100583"/>
              <a:gd name="connsiteY61" fmla="*/ 42751 h 165421"/>
              <a:gd name="connsiteX62" fmla="*/ 1006820 w 1100583"/>
              <a:gd name="connsiteY62" fmla="*/ 58378 h 165421"/>
              <a:gd name="connsiteX63" fmla="*/ 1015307 w 1100583"/>
              <a:gd name="connsiteY63" fmla="*/ 70210 h 165421"/>
              <a:gd name="connsiteX64" fmla="*/ 1027918 w 1100583"/>
              <a:gd name="connsiteY64" fmla="*/ 79809 h 165421"/>
              <a:gd name="connsiteX65" fmla="*/ 1043548 w 1100583"/>
              <a:gd name="connsiteY65" fmla="*/ 88404 h 165421"/>
              <a:gd name="connsiteX66" fmla="*/ 1058284 w 1100583"/>
              <a:gd name="connsiteY66" fmla="*/ 96106 h 165421"/>
              <a:gd name="connsiteX67" fmla="*/ 1070218 w 1100583"/>
              <a:gd name="connsiteY67" fmla="*/ 103696 h 165421"/>
              <a:gd name="connsiteX68" fmla="*/ 1078038 w 1100583"/>
              <a:gd name="connsiteY68" fmla="*/ 112402 h 165421"/>
              <a:gd name="connsiteX69" fmla="*/ 1080944 w 1100583"/>
              <a:gd name="connsiteY69" fmla="*/ 123676 h 165421"/>
              <a:gd name="connsiteX70" fmla="*/ 1072342 w 1100583"/>
              <a:gd name="connsiteY70" fmla="*/ 142206 h 165421"/>
              <a:gd name="connsiteX71" fmla="*/ 1046558 w 1100583"/>
              <a:gd name="connsiteY71" fmla="*/ 148568 h 165421"/>
              <a:gd name="connsiteX72" fmla="*/ 1035624 w 1100583"/>
              <a:gd name="connsiteY72" fmla="*/ 147563 h 165421"/>
              <a:gd name="connsiteX73" fmla="*/ 1023793 w 1100583"/>
              <a:gd name="connsiteY73" fmla="*/ 144773 h 165421"/>
              <a:gd name="connsiteX74" fmla="*/ 1012630 w 1100583"/>
              <a:gd name="connsiteY74" fmla="*/ 140196 h 165421"/>
              <a:gd name="connsiteX75" fmla="*/ 1003581 w 1100583"/>
              <a:gd name="connsiteY75" fmla="*/ 134169 h 165421"/>
              <a:gd name="connsiteX76" fmla="*/ 944091 w 1100583"/>
              <a:gd name="connsiteY76" fmla="*/ 19645 h 165421"/>
              <a:gd name="connsiteX77" fmla="*/ 990304 w 1100583"/>
              <a:gd name="connsiteY77" fmla="*/ 19645 h 165421"/>
              <a:gd name="connsiteX78" fmla="*/ 990304 w 1100583"/>
              <a:gd name="connsiteY78" fmla="*/ 2679 h 165421"/>
              <a:gd name="connsiteX79" fmla="*/ 879239 w 1100583"/>
              <a:gd name="connsiteY79" fmla="*/ 2679 h 165421"/>
              <a:gd name="connsiteX80" fmla="*/ 879239 w 1100583"/>
              <a:gd name="connsiteY80" fmla="*/ 19645 h 165421"/>
              <a:gd name="connsiteX81" fmla="*/ 925339 w 1100583"/>
              <a:gd name="connsiteY81" fmla="*/ 19645 h 165421"/>
              <a:gd name="connsiteX82" fmla="*/ 925339 w 1100583"/>
              <a:gd name="connsiteY82" fmla="*/ 162744 h 165421"/>
              <a:gd name="connsiteX83" fmla="*/ 944091 w 1100583"/>
              <a:gd name="connsiteY83" fmla="*/ 162744 h 165421"/>
              <a:gd name="connsiteX84" fmla="*/ 944091 w 1100583"/>
              <a:gd name="connsiteY84" fmla="*/ 19645 h 165421"/>
              <a:gd name="connsiteX85" fmla="*/ 853678 w 1100583"/>
              <a:gd name="connsiteY85" fmla="*/ 162744 h 165421"/>
              <a:gd name="connsiteX86" fmla="*/ 830685 w 1100583"/>
              <a:gd name="connsiteY86" fmla="*/ 162744 h 165421"/>
              <a:gd name="connsiteX87" fmla="*/ 748308 w 1100583"/>
              <a:gd name="connsiteY87" fmla="*/ 35161 h 165421"/>
              <a:gd name="connsiteX88" fmla="*/ 743174 w 1100583"/>
              <a:gd name="connsiteY88" fmla="*/ 25115 h 165421"/>
              <a:gd name="connsiteX89" fmla="*/ 742503 w 1100583"/>
              <a:gd name="connsiteY89" fmla="*/ 25115 h 165421"/>
              <a:gd name="connsiteX90" fmla="*/ 743397 w 1100583"/>
              <a:gd name="connsiteY90" fmla="*/ 47104 h 165421"/>
              <a:gd name="connsiteX91" fmla="*/ 743397 w 1100583"/>
              <a:gd name="connsiteY91" fmla="*/ 162744 h 165421"/>
              <a:gd name="connsiteX92" fmla="*/ 724644 w 1100583"/>
              <a:gd name="connsiteY92" fmla="*/ 162744 h 165421"/>
              <a:gd name="connsiteX93" fmla="*/ 724644 w 1100583"/>
              <a:gd name="connsiteY93" fmla="*/ 2679 h 165421"/>
              <a:gd name="connsiteX94" fmla="*/ 748977 w 1100583"/>
              <a:gd name="connsiteY94" fmla="*/ 2679 h 165421"/>
              <a:gd name="connsiteX95" fmla="*/ 829122 w 1100583"/>
              <a:gd name="connsiteY95" fmla="*/ 128253 h 165421"/>
              <a:gd name="connsiteX96" fmla="*/ 835596 w 1100583"/>
              <a:gd name="connsiteY96" fmla="*/ 138968 h 165421"/>
              <a:gd name="connsiteX97" fmla="*/ 836042 w 1100583"/>
              <a:gd name="connsiteY97" fmla="*/ 138968 h 165421"/>
              <a:gd name="connsiteX98" fmla="*/ 834926 w 1100583"/>
              <a:gd name="connsiteY98" fmla="*/ 115416 h 165421"/>
              <a:gd name="connsiteX99" fmla="*/ 834926 w 1100583"/>
              <a:gd name="connsiteY99" fmla="*/ 2679 h 165421"/>
              <a:gd name="connsiteX100" fmla="*/ 853678 w 1100583"/>
              <a:gd name="connsiteY100" fmla="*/ 2679 h 165421"/>
              <a:gd name="connsiteX101" fmla="*/ 853678 w 1100583"/>
              <a:gd name="connsiteY101" fmla="*/ 162744 h 165421"/>
              <a:gd name="connsiteX102" fmla="*/ 609005 w 1100583"/>
              <a:gd name="connsiteY102" fmla="*/ 162744 h 165421"/>
              <a:gd name="connsiteX103" fmla="*/ 693837 w 1100583"/>
              <a:gd name="connsiteY103" fmla="*/ 162744 h 165421"/>
              <a:gd name="connsiteX104" fmla="*/ 693837 w 1100583"/>
              <a:gd name="connsiteY104" fmla="*/ 145778 h 165421"/>
              <a:gd name="connsiteX105" fmla="*/ 627757 w 1100583"/>
              <a:gd name="connsiteY105" fmla="*/ 145778 h 165421"/>
              <a:gd name="connsiteX106" fmla="*/ 627757 w 1100583"/>
              <a:gd name="connsiteY106" fmla="*/ 89743 h 165421"/>
              <a:gd name="connsiteX107" fmla="*/ 685577 w 1100583"/>
              <a:gd name="connsiteY107" fmla="*/ 89743 h 165421"/>
              <a:gd name="connsiteX108" fmla="*/ 685577 w 1100583"/>
              <a:gd name="connsiteY108" fmla="*/ 72889 h 165421"/>
              <a:gd name="connsiteX109" fmla="*/ 627757 w 1100583"/>
              <a:gd name="connsiteY109" fmla="*/ 72889 h 165421"/>
              <a:gd name="connsiteX110" fmla="*/ 627757 w 1100583"/>
              <a:gd name="connsiteY110" fmla="*/ 19645 h 165421"/>
              <a:gd name="connsiteX111" fmla="*/ 690265 w 1100583"/>
              <a:gd name="connsiteY111" fmla="*/ 19645 h 165421"/>
              <a:gd name="connsiteX112" fmla="*/ 690265 w 1100583"/>
              <a:gd name="connsiteY112" fmla="*/ 2679 h 165421"/>
              <a:gd name="connsiteX113" fmla="*/ 609005 w 1100583"/>
              <a:gd name="connsiteY113" fmla="*/ 2679 h 165421"/>
              <a:gd name="connsiteX114" fmla="*/ 609005 w 1100583"/>
              <a:gd name="connsiteY114" fmla="*/ 162744 h 165421"/>
              <a:gd name="connsiteX115" fmla="*/ 583778 w 1100583"/>
              <a:gd name="connsiteY115" fmla="*/ 19645 h 165421"/>
              <a:gd name="connsiteX116" fmla="*/ 537567 w 1100583"/>
              <a:gd name="connsiteY116" fmla="*/ 19645 h 165421"/>
              <a:gd name="connsiteX117" fmla="*/ 537567 w 1100583"/>
              <a:gd name="connsiteY117" fmla="*/ 162744 h 165421"/>
              <a:gd name="connsiteX118" fmla="*/ 518815 w 1100583"/>
              <a:gd name="connsiteY118" fmla="*/ 162744 h 165421"/>
              <a:gd name="connsiteX119" fmla="*/ 518815 w 1100583"/>
              <a:gd name="connsiteY119" fmla="*/ 19645 h 165421"/>
              <a:gd name="connsiteX120" fmla="*/ 472715 w 1100583"/>
              <a:gd name="connsiteY120" fmla="*/ 19645 h 165421"/>
              <a:gd name="connsiteX121" fmla="*/ 472715 w 1100583"/>
              <a:gd name="connsiteY121" fmla="*/ 2679 h 165421"/>
              <a:gd name="connsiteX122" fmla="*/ 583778 w 1100583"/>
              <a:gd name="connsiteY122" fmla="*/ 2679 h 165421"/>
              <a:gd name="connsiteX123" fmla="*/ 583778 w 1100583"/>
              <a:gd name="connsiteY123" fmla="*/ 19645 h 165421"/>
              <a:gd name="connsiteX124" fmla="*/ 424160 w 1100583"/>
              <a:gd name="connsiteY124" fmla="*/ 162744 h 165421"/>
              <a:gd name="connsiteX125" fmla="*/ 447154 w 1100583"/>
              <a:gd name="connsiteY125" fmla="*/ 162744 h 165421"/>
              <a:gd name="connsiteX126" fmla="*/ 447154 w 1100583"/>
              <a:gd name="connsiteY126" fmla="*/ 2679 h 165421"/>
              <a:gd name="connsiteX127" fmla="*/ 428402 w 1100583"/>
              <a:gd name="connsiteY127" fmla="*/ 2679 h 165421"/>
              <a:gd name="connsiteX128" fmla="*/ 428402 w 1100583"/>
              <a:gd name="connsiteY128" fmla="*/ 115416 h 165421"/>
              <a:gd name="connsiteX129" fmla="*/ 429518 w 1100583"/>
              <a:gd name="connsiteY129" fmla="*/ 138968 h 165421"/>
              <a:gd name="connsiteX130" fmla="*/ 429072 w 1100583"/>
              <a:gd name="connsiteY130" fmla="*/ 138968 h 165421"/>
              <a:gd name="connsiteX131" fmla="*/ 422597 w 1100583"/>
              <a:gd name="connsiteY131" fmla="*/ 128253 h 165421"/>
              <a:gd name="connsiteX132" fmla="*/ 342453 w 1100583"/>
              <a:gd name="connsiteY132" fmla="*/ 2679 h 165421"/>
              <a:gd name="connsiteX133" fmla="*/ 318120 w 1100583"/>
              <a:gd name="connsiteY133" fmla="*/ 2679 h 165421"/>
              <a:gd name="connsiteX134" fmla="*/ 318120 w 1100583"/>
              <a:gd name="connsiteY134" fmla="*/ 162744 h 165421"/>
              <a:gd name="connsiteX135" fmla="*/ 336872 w 1100583"/>
              <a:gd name="connsiteY135" fmla="*/ 162744 h 165421"/>
              <a:gd name="connsiteX136" fmla="*/ 336872 w 1100583"/>
              <a:gd name="connsiteY136" fmla="*/ 47104 h 165421"/>
              <a:gd name="connsiteX137" fmla="*/ 335980 w 1100583"/>
              <a:gd name="connsiteY137" fmla="*/ 25115 h 165421"/>
              <a:gd name="connsiteX138" fmla="*/ 336649 w 1100583"/>
              <a:gd name="connsiteY138" fmla="*/ 25115 h 165421"/>
              <a:gd name="connsiteX139" fmla="*/ 341783 w 1100583"/>
              <a:gd name="connsiteY139" fmla="*/ 35161 h 165421"/>
              <a:gd name="connsiteX140" fmla="*/ 424160 w 1100583"/>
              <a:gd name="connsiteY140" fmla="*/ 162744 h 165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</a:cxnLst>
            <a:rect l="l" t="t" r="r" b="b"/>
            <a:pathLst>
              <a:path w="1100583" h="165421">
                <a:moveTo>
                  <a:pt x="75233" y="165422"/>
                </a:moveTo>
                <a:cubicBezTo>
                  <a:pt x="92869" y="165422"/>
                  <a:pt x="107603" y="162297"/>
                  <a:pt x="119435" y="156047"/>
                </a:cubicBezTo>
                <a:lnTo>
                  <a:pt x="119435" y="137852"/>
                </a:lnTo>
                <a:cubicBezTo>
                  <a:pt x="107677" y="144996"/>
                  <a:pt x="93762" y="148568"/>
                  <a:pt x="77688" y="148568"/>
                </a:cubicBezTo>
                <a:cubicBezTo>
                  <a:pt x="60350" y="148568"/>
                  <a:pt x="46323" y="142800"/>
                  <a:pt x="35607" y="131266"/>
                </a:cubicBezTo>
                <a:cubicBezTo>
                  <a:pt x="24966" y="119658"/>
                  <a:pt x="19645" y="104106"/>
                  <a:pt x="19645" y="84609"/>
                </a:cubicBezTo>
                <a:cubicBezTo>
                  <a:pt x="19645" y="64070"/>
                  <a:pt x="25338" y="47662"/>
                  <a:pt x="36723" y="35384"/>
                </a:cubicBezTo>
                <a:cubicBezTo>
                  <a:pt x="48183" y="23106"/>
                  <a:pt x="63103" y="16966"/>
                  <a:pt x="81483" y="16966"/>
                </a:cubicBezTo>
                <a:cubicBezTo>
                  <a:pt x="95324" y="16966"/>
                  <a:pt x="107975" y="20166"/>
                  <a:pt x="119435" y="26566"/>
                </a:cubicBezTo>
                <a:lnTo>
                  <a:pt x="119435" y="6586"/>
                </a:lnTo>
                <a:cubicBezTo>
                  <a:pt x="109463" y="2195"/>
                  <a:pt x="96887" y="0"/>
                  <a:pt x="81707" y="0"/>
                </a:cubicBezTo>
                <a:cubicBezTo>
                  <a:pt x="58043" y="0"/>
                  <a:pt x="38509" y="7888"/>
                  <a:pt x="23106" y="23664"/>
                </a:cubicBezTo>
                <a:cubicBezTo>
                  <a:pt x="7702" y="39439"/>
                  <a:pt x="0" y="60127"/>
                  <a:pt x="0" y="85725"/>
                </a:cubicBezTo>
                <a:cubicBezTo>
                  <a:pt x="0" y="109538"/>
                  <a:pt x="6846" y="128774"/>
                  <a:pt x="20538" y="143434"/>
                </a:cubicBezTo>
                <a:cubicBezTo>
                  <a:pt x="34231" y="158093"/>
                  <a:pt x="52462" y="165422"/>
                  <a:pt x="75233" y="165422"/>
                </a:cubicBezTo>
                <a:close/>
                <a:moveTo>
                  <a:pt x="210294" y="165422"/>
                </a:moveTo>
                <a:cubicBezTo>
                  <a:pt x="187597" y="165422"/>
                  <a:pt x="169404" y="157944"/>
                  <a:pt x="155712" y="142987"/>
                </a:cubicBezTo>
                <a:cubicBezTo>
                  <a:pt x="142094" y="128030"/>
                  <a:pt x="135284" y="108570"/>
                  <a:pt x="135284" y="84609"/>
                </a:cubicBezTo>
                <a:cubicBezTo>
                  <a:pt x="135284" y="58862"/>
                  <a:pt x="142242" y="38323"/>
                  <a:pt x="156158" y="22994"/>
                </a:cubicBezTo>
                <a:cubicBezTo>
                  <a:pt x="170073" y="7665"/>
                  <a:pt x="189012" y="0"/>
                  <a:pt x="212973" y="0"/>
                </a:cubicBezTo>
                <a:cubicBezTo>
                  <a:pt x="235074" y="0"/>
                  <a:pt x="252859" y="7441"/>
                  <a:pt x="266328" y="22324"/>
                </a:cubicBezTo>
                <a:cubicBezTo>
                  <a:pt x="279871" y="37207"/>
                  <a:pt x="286643" y="56666"/>
                  <a:pt x="286643" y="80702"/>
                </a:cubicBezTo>
                <a:cubicBezTo>
                  <a:pt x="286643" y="106821"/>
                  <a:pt x="279722" y="127472"/>
                  <a:pt x="265882" y="142652"/>
                </a:cubicBezTo>
                <a:cubicBezTo>
                  <a:pt x="252041" y="157832"/>
                  <a:pt x="233512" y="165422"/>
                  <a:pt x="210294" y="165422"/>
                </a:cubicBezTo>
                <a:close/>
                <a:moveTo>
                  <a:pt x="211634" y="16966"/>
                </a:moveTo>
                <a:cubicBezTo>
                  <a:pt x="194816" y="16966"/>
                  <a:pt x="181161" y="23031"/>
                  <a:pt x="170669" y="35161"/>
                </a:cubicBezTo>
                <a:cubicBezTo>
                  <a:pt x="160176" y="47290"/>
                  <a:pt x="154931" y="63215"/>
                  <a:pt x="154931" y="82934"/>
                </a:cubicBezTo>
                <a:cubicBezTo>
                  <a:pt x="154931" y="102654"/>
                  <a:pt x="160027" y="118542"/>
                  <a:pt x="170222" y="130597"/>
                </a:cubicBezTo>
                <a:cubicBezTo>
                  <a:pt x="180491" y="142577"/>
                  <a:pt x="193849" y="148568"/>
                  <a:pt x="210294" y="148568"/>
                </a:cubicBezTo>
                <a:cubicBezTo>
                  <a:pt x="227856" y="148568"/>
                  <a:pt x="241697" y="142838"/>
                  <a:pt x="251817" y="131378"/>
                </a:cubicBezTo>
                <a:cubicBezTo>
                  <a:pt x="261937" y="119918"/>
                  <a:pt x="266998" y="103882"/>
                  <a:pt x="266998" y="83269"/>
                </a:cubicBezTo>
                <a:cubicBezTo>
                  <a:pt x="266998" y="62136"/>
                  <a:pt x="262087" y="45802"/>
                  <a:pt x="252264" y="34268"/>
                </a:cubicBezTo>
                <a:cubicBezTo>
                  <a:pt x="242441" y="22733"/>
                  <a:pt x="228898" y="16966"/>
                  <a:pt x="211634" y="16966"/>
                </a:cubicBezTo>
                <a:close/>
                <a:moveTo>
                  <a:pt x="1003581" y="134169"/>
                </a:moveTo>
                <a:lnTo>
                  <a:pt x="1003581" y="156269"/>
                </a:lnTo>
                <a:cubicBezTo>
                  <a:pt x="1005667" y="157684"/>
                  <a:pt x="1008420" y="158986"/>
                  <a:pt x="1011849" y="160177"/>
                </a:cubicBezTo>
                <a:cubicBezTo>
                  <a:pt x="1015345" y="161293"/>
                  <a:pt x="1019031" y="162223"/>
                  <a:pt x="1022898" y="162966"/>
                </a:cubicBezTo>
                <a:cubicBezTo>
                  <a:pt x="1026765" y="163786"/>
                  <a:pt x="1030556" y="164381"/>
                  <a:pt x="1034281" y="164752"/>
                </a:cubicBezTo>
                <a:cubicBezTo>
                  <a:pt x="1038005" y="165199"/>
                  <a:pt x="1041129" y="165422"/>
                  <a:pt x="1043653" y="165422"/>
                </a:cubicBezTo>
                <a:cubicBezTo>
                  <a:pt x="1051245" y="165422"/>
                  <a:pt x="1058465" y="164641"/>
                  <a:pt x="1065313" y="163079"/>
                </a:cubicBezTo>
                <a:cubicBezTo>
                  <a:pt x="1072161" y="161590"/>
                  <a:pt x="1078181" y="159135"/>
                  <a:pt x="1083391" y="155711"/>
                </a:cubicBezTo>
                <a:cubicBezTo>
                  <a:pt x="1088678" y="152288"/>
                  <a:pt x="1092850" y="147861"/>
                  <a:pt x="1095898" y="142429"/>
                </a:cubicBezTo>
                <a:cubicBezTo>
                  <a:pt x="1099022" y="136922"/>
                  <a:pt x="1100584" y="130224"/>
                  <a:pt x="1100584" y="122337"/>
                </a:cubicBezTo>
                <a:cubicBezTo>
                  <a:pt x="1100584" y="116383"/>
                  <a:pt x="1099432" y="111100"/>
                  <a:pt x="1097126" y="106487"/>
                </a:cubicBezTo>
                <a:cubicBezTo>
                  <a:pt x="1094888" y="101873"/>
                  <a:pt x="1091840" y="97669"/>
                  <a:pt x="1087973" y="93873"/>
                </a:cubicBezTo>
                <a:cubicBezTo>
                  <a:pt x="1084106" y="90078"/>
                  <a:pt x="1079600" y="86618"/>
                  <a:pt x="1074467" y="83493"/>
                </a:cubicBezTo>
                <a:cubicBezTo>
                  <a:pt x="1069333" y="80367"/>
                  <a:pt x="1063894" y="77391"/>
                  <a:pt x="1058169" y="74563"/>
                </a:cubicBezTo>
                <a:cubicBezTo>
                  <a:pt x="1052588" y="71810"/>
                  <a:pt x="1047635" y="69280"/>
                  <a:pt x="1043320" y="66973"/>
                </a:cubicBezTo>
                <a:cubicBezTo>
                  <a:pt x="1039081" y="64666"/>
                  <a:pt x="1035471" y="62285"/>
                  <a:pt x="1032499" y="59829"/>
                </a:cubicBezTo>
                <a:cubicBezTo>
                  <a:pt x="1029518" y="57373"/>
                  <a:pt x="1027251" y="54657"/>
                  <a:pt x="1025689" y="51681"/>
                </a:cubicBezTo>
                <a:cubicBezTo>
                  <a:pt x="1024194" y="48704"/>
                  <a:pt x="1023451" y="45169"/>
                  <a:pt x="1023451" y="41077"/>
                </a:cubicBezTo>
                <a:cubicBezTo>
                  <a:pt x="1023451" y="36686"/>
                  <a:pt x="1024460" y="32965"/>
                  <a:pt x="1026470" y="29914"/>
                </a:cubicBezTo>
                <a:cubicBezTo>
                  <a:pt x="1028480" y="26864"/>
                  <a:pt x="1031080" y="24371"/>
                  <a:pt x="1034281" y="22436"/>
                </a:cubicBezTo>
                <a:cubicBezTo>
                  <a:pt x="1037481" y="20501"/>
                  <a:pt x="1041129" y="19124"/>
                  <a:pt x="1045225" y="18306"/>
                </a:cubicBezTo>
                <a:cubicBezTo>
                  <a:pt x="1049311" y="17413"/>
                  <a:pt x="1053407" y="16966"/>
                  <a:pt x="1057502" y="16966"/>
                </a:cubicBezTo>
                <a:cubicBezTo>
                  <a:pt x="1072304" y="16966"/>
                  <a:pt x="1084439" y="20241"/>
                  <a:pt x="1093888" y="26789"/>
                </a:cubicBezTo>
                <a:lnTo>
                  <a:pt x="1093888" y="5693"/>
                </a:lnTo>
                <a:cubicBezTo>
                  <a:pt x="1086668" y="1898"/>
                  <a:pt x="1075171" y="0"/>
                  <a:pt x="1059398" y="0"/>
                </a:cubicBezTo>
                <a:cubicBezTo>
                  <a:pt x="1052473" y="0"/>
                  <a:pt x="1045663" y="856"/>
                  <a:pt x="1038967" y="2567"/>
                </a:cubicBezTo>
                <a:cubicBezTo>
                  <a:pt x="1032347" y="4279"/>
                  <a:pt x="1026432" y="6883"/>
                  <a:pt x="1021222" y="10381"/>
                </a:cubicBezTo>
                <a:cubicBezTo>
                  <a:pt x="1016012" y="13878"/>
                  <a:pt x="1011811" y="18343"/>
                  <a:pt x="1008611" y="23775"/>
                </a:cubicBezTo>
                <a:cubicBezTo>
                  <a:pt x="1005410" y="29133"/>
                  <a:pt x="1003810" y="35458"/>
                  <a:pt x="1003810" y="42751"/>
                </a:cubicBezTo>
                <a:cubicBezTo>
                  <a:pt x="1003810" y="48704"/>
                  <a:pt x="1004810" y="53913"/>
                  <a:pt x="1006820" y="58378"/>
                </a:cubicBezTo>
                <a:cubicBezTo>
                  <a:pt x="1008906" y="62768"/>
                  <a:pt x="1011735" y="66712"/>
                  <a:pt x="1015307" y="70210"/>
                </a:cubicBezTo>
                <a:cubicBezTo>
                  <a:pt x="1018879" y="73707"/>
                  <a:pt x="1023079" y="76907"/>
                  <a:pt x="1027918" y="79809"/>
                </a:cubicBezTo>
                <a:cubicBezTo>
                  <a:pt x="1032756" y="82711"/>
                  <a:pt x="1037967" y="85576"/>
                  <a:pt x="1043548" y="88404"/>
                </a:cubicBezTo>
                <a:cubicBezTo>
                  <a:pt x="1048825" y="91083"/>
                  <a:pt x="1053740" y="93650"/>
                  <a:pt x="1058284" y="96106"/>
                </a:cubicBezTo>
                <a:cubicBezTo>
                  <a:pt x="1062894" y="98487"/>
                  <a:pt x="1066875" y="101017"/>
                  <a:pt x="1070218" y="103696"/>
                </a:cubicBezTo>
                <a:cubicBezTo>
                  <a:pt x="1073571" y="106300"/>
                  <a:pt x="1076181" y="109203"/>
                  <a:pt x="1078038" y="112402"/>
                </a:cubicBezTo>
                <a:cubicBezTo>
                  <a:pt x="1079972" y="115602"/>
                  <a:pt x="1080944" y="119360"/>
                  <a:pt x="1080944" y="123676"/>
                </a:cubicBezTo>
                <a:cubicBezTo>
                  <a:pt x="1080944" y="131713"/>
                  <a:pt x="1078076" y="137889"/>
                  <a:pt x="1072342" y="142206"/>
                </a:cubicBezTo>
                <a:cubicBezTo>
                  <a:pt x="1066685" y="146447"/>
                  <a:pt x="1058093" y="148568"/>
                  <a:pt x="1046558" y="148568"/>
                </a:cubicBezTo>
                <a:cubicBezTo>
                  <a:pt x="1043215" y="148568"/>
                  <a:pt x="1039567" y="148233"/>
                  <a:pt x="1035624" y="147563"/>
                </a:cubicBezTo>
                <a:cubicBezTo>
                  <a:pt x="1031680" y="146893"/>
                  <a:pt x="1027737" y="145963"/>
                  <a:pt x="1023793" y="144773"/>
                </a:cubicBezTo>
                <a:cubicBezTo>
                  <a:pt x="1019917" y="143508"/>
                  <a:pt x="1016202" y="141982"/>
                  <a:pt x="1012630" y="140196"/>
                </a:cubicBezTo>
                <a:cubicBezTo>
                  <a:pt x="1009125" y="138410"/>
                  <a:pt x="1006115" y="136401"/>
                  <a:pt x="1003581" y="134169"/>
                </a:cubicBezTo>
                <a:close/>
                <a:moveTo>
                  <a:pt x="944091" y="19645"/>
                </a:moveTo>
                <a:lnTo>
                  <a:pt x="990304" y="19645"/>
                </a:lnTo>
                <a:lnTo>
                  <a:pt x="990304" y="2679"/>
                </a:lnTo>
                <a:lnTo>
                  <a:pt x="879239" y="2679"/>
                </a:lnTo>
                <a:lnTo>
                  <a:pt x="879239" y="19645"/>
                </a:lnTo>
                <a:lnTo>
                  <a:pt x="925339" y="19645"/>
                </a:lnTo>
                <a:lnTo>
                  <a:pt x="925339" y="162744"/>
                </a:lnTo>
                <a:lnTo>
                  <a:pt x="944091" y="162744"/>
                </a:lnTo>
                <a:lnTo>
                  <a:pt x="944091" y="19645"/>
                </a:lnTo>
                <a:close/>
                <a:moveTo>
                  <a:pt x="853678" y="162744"/>
                </a:moveTo>
                <a:lnTo>
                  <a:pt x="830685" y="162744"/>
                </a:lnTo>
                <a:lnTo>
                  <a:pt x="748308" y="35161"/>
                </a:lnTo>
                <a:cubicBezTo>
                  <a:pt x="746224" y="31961"/>
                  <a:pt x="744513" y="28612"/>
                  <a:pt x="743174" y="25115"/>
                </a:cubicBezTo>
                <a:lnTo>
                  <a:pt x="742503" y="25115"/>
                </a:lnTo>
                <a:cubicBezTo>
                  <a:pt x="743099" y="28538"/>
                  <a:pt x="743397" y="35868"/>
                  <a:pt x="743397" y="47104"/>
                </a:cubicBezTo>
                <a:lnTo>
                  <a:pt x="743397" y="162744"/>
                </a:lnTo>
                <a:lnTo>
                  <a:pt x="724644" y="162744"/>
                </a:lnTo>
                <a:lnTo>
                  <a:pt x="724644" y="2679"/>
                </a:lnTo>
                <a:lnTo>
                  <a:pt x="748977" y="2679"/>
                </a:lnTo>
                <a:lnTo>
                  <a:pt x="829122" y="128253"/>
                </a:lnTo>
                <a:cubicBezTo>
                  <a:pt x="832471" y="133462"/>
                  <a:pt x="834628" y="137034"/>
                  <a:pt x="835596" y="138968"/>
                </a:cubicBezTo>
                <a:lnTo>
                  <a:pt x="836042" y="138968"/>
                </a:lnTo>
                <a:cubicBezTo>
                  <a:pt x="835298" y="134354"/>
                  <a:pt x="834926" y="126504"/>
                  <a:pt x="834926" y="115416"/>
                </a:cubicBezTo>
                <a:lnTo>
                  <a:pt x="834926" y="2679"/>
                </a:lnTo>
                <a:lnTo>
                  <a:pt x="853678" y="2679"/>
                </a:lnTo>
                <a:lnTo>
                  <a:pt x="853678" y="162744"/>
                </a:lnTo>
                <a:close/>
                <a:moveTo>
                  <a:pt x="609005" y="162744"/>
                </a:moveTo>
                <a:lnTo>
                  <a:pt x="693837" y="162744"/>
                </a:lnTo>
                <a:lnTo>
                  <a:pt x="693837" y="145778"/>
                </a:lnTo>
                <a:lnTo>
                  <a:pt x="627757" y="145778"/>
                </a:lnTo>
                <a:lnTo>
                  <a:pt x="627757" y="89743"/>
                </a:lnTo>
                <a:lnTo>
                  <a:pt x="685577" y="89743"/>
                </a:lnTo>
                <a:lnTo>
                  <a:pt x="685577" y="72889"/>
                </a:lnTo>
                <a:lnTo>
                  <a:pt x="627757" y="72889"/>
                </a:lnTo>
                <a:lnTo>
                  <a:pt x="627757" y="19645"/>
                </a:lnTo>
                <a:lnTo>
                  <a:pt x="690265" y="19645"/>
                </a:lnTo>
                <a:lnTo>
                  <a:pt x="690265" y="2679"/>
                </a:lnTo>
                <a:lnTo>
                  <a:pt x="609005" y="2679"/>
                </a:lnTo>
                <a:lnTo>
                  <a:pt x="609005" y="162744"/>
                </a:lnTo>
                <a:close/>
                <a:moveTo>
                  <a:pt x="583778" y="19645"/>
                </a:moveTo>
                <a:lnTo>
                  <a:pt x="537567" y="19645"/>
                </a:lnTo>
                <a:lnTo>
                  <a:pt x="537567" y="162744"/>
                </a:lnTo>
                <a:lnTo>
                  <a:pt x="518815" y="162744"/>
                </a:lnTo>
                <a:lnTo>
                  <a:pt x="518815" y="19645"/>
                </a:lnTo>
                <a:lnTo>
                  <a:pt x="472715" y="19645"/>
                </a:lnTo>
                <a:lnTo>
                  <a:pt x="472715" y="2679"/>
                </a:lnTo>
                <a:lnTo>
                  <a:pt x="583778" y="2679"/>
                </a:lnTo>
                <a:lnTo>
                  <a:pt x="583778" y="19645"/>
                </a:lnTo>
                <a:close/>
                <a:moveTo>
                  <a:pt x="424160" y="162744"/>
                </a:moveTo>
                <a:lnTo>
                  <a:pt x="447154" y="162744"/>
                </a:lnTo>
                <a:lnTo>
                  <a:pt x="447154" y="2679"/>
                </a:lnTo>
                <a:lnTo>
                  <a:pt x="428402" y="2679"/>
                </a:lnTo>
                <a:lnTo>
                  <a:pt x="428402" y="115416"/>
                </a:lnTo>
                <a:cubicBezTo>
                  <a:pt x="428402" y="126504"/>
                  <a:pt x="428774" y="134354"/>
                  <a:pt x="429518" y="138968"/>
                </a:cubicBezTo>
                <a:lnTo>
                  <a:pt x="429072" y="138968"/>
                </a:lnTo>
                <a:cubicBezTo>
                  <a:pt x="428104" y="137034"/>
                  <a:pt x="425946" y="133462"/>
                  <a:pt x="422597" y="128253"/>
                </a:cubicBezTo>
                <a:lnTo>
                  <a:pt x="342453" y="2679"/>
                </a:lnTo>
                <a:lnTo>
                  <a:pt x="318120" y="2679"/>
                </a:lnTo>
                <a:lnTo>
                  <a:pt x="318120" y="162744"/>
                </a:lnTo>
                <a:lnTo>
                  <a:pt x="336872" y="162744"/>
                </a:lnTo>
                <a:lnTo>
                  <a:pt x="336872" y="47104"/>
                </a:lnTo>
                <a:cubicBezTo>
                  <a:pt x="336872" y="35868"/>
                  <a:pt x="336575" y="28538"/>
                  <a:pt x="335980" y="25115"/>
                </a:cubicBezTo>
                <a:lnTo>
                  <a:pt x="336649" y="25115"/>
                </a:lnTo>
                <a:cubicBezTo>
                  <a:pt x="337989" y="28612"/>
                  <a:pt x="339700" y="31961"/>
                  <a:pt x="341783" y="35161"/>
                </a:cubicBezTo>
                <a:lnTo>
                  <a:pt x="424160" y="162744"/>
                </a:lnTo>
                <a:close/>
              </a:path>
            </a:pathLst>
          </a:custGeom>
          <a:solidFill>
            <a:schemeClr val="tx1"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7708572" y="2343200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r>
              <a:rPr lang="en-US" altLang="zh-CN" dirty="0"/>
              <a:t> 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  <a:lvl2pPr>
              <a:defRPr>
                <a:latin typeface="+mn-ea"/>
                <a:ea typeface="+mn-ea"/>
                <a:cs typeface="+mn-ea"/>
                <a:sym typeface="+mn-ea"/>
              </a:defRPr>
            </a:lvl2pPr>
            <a:lvl3pPr>
              <a:defRPr>
                <a:latin typeface="+mn-ea"/>
                <a:ea typeface="+mn-ea"/>
                <a:cs typeface="+mn-ea"/>
                <a:sym typeface="+mn-ea"/>
              </a:defRPr>
            </a:lvl3pPr>
            <a:lvl4pPr>
              <a:defRPr>
                <a:latin typeface="+mn-ea"/>
                <a:ea typeface="+mn-ea"/>
                <a:cs typeface="+mn-ea"/>
                <a:sym typeface="+mn-ea"/>
              </a:defRPr>
            </a:lvl4pPr>
            <a:lvl5pPr>
              <a:defRPr>
                <a:latin typeface="+mn-ea"/>
                <a:ea typeface="+mn-ea"/>
                <a:cs typeface="+mn-ea"/>
                <a:sym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ea"/>
                <a:ea typeface="+mn-ea"/>
                <a:cs typeface="+mn-ea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 userDrawn="1"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7 (Stroke)_#color-2083&amp;10102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 userDrawn="1"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 userDrawn="1"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6386"/>
            <p:custDataLst>
              <p:tags r:id="rId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6387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2145771" y="1981200"/>
            <a:ext cx="7875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10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11"/>
            </p:custDataLst>
          </p:nvPr>
        </p:nvSpPr>
        <p:spPr>
          <a:xfrm>
            <a:off x="4812859" y="44196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 userDrawn="1"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 userDrawn="1"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 userDrawn="1"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11" name="日期占位符 4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1016000" y="3530600"/>
            <a:ext cx="6352117" cy="1524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6389" hasCustomPrompt="1"/>
            <p:custDataLst>
              <p:tags r:id="rId9"/>
            </p:custDataLst>
          </p:nvPr>
        </p:nvSpPr>
        <p:spPr>
          <a:xfrm>
            <a:off x="1016000" y="1905000"/>
            <a:ext cx="1527175" cy="1524000"/>
          </a:xfrm>
        </p:spPr>
        <p:txBody>
          <a:bodyPr vert="horz" wrap="square" lIns="0" tIns="0" rIns="0" bIns="0" anchor="ctr" anchorCtr="0">
            <a:normAutofit/>
          </a:bodyPr>
          <a:lstStyle>
            <a:lvl1pPr marL="0" indent="0" algn="l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rgbClr val="FFFFFF"/>
                </a:solidFill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 userDrawn="1"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 userDrawn="1"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 userDrawn="1"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6386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6387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5" name="Subtitle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10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2" Type="http://schemas.openxmlformats.org/officeDocument/2006/relationships/theme" Target="../theme/theme2.xml"/><Relationship Id="rId21" Type="http://schemas.openxmlformats.org/officeDocument/2006/relationships/tags" Target="../tags/tag95.xml"/><Relationship Id="rId20" Type="http://schemas.openxmlformats.org/officeDocument/2006/relationships/tags" Target="../tags/tag94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93.xml"/><Relationship Id="rId18" Type="http://schemas.openxmlformats.org/officeDocument/2006/relationships/tags" Target="../tags/tag92.xml"/><Relationship Id="rId17" Type="http://schemas.openxmlformats.org/officeDocument/2006/relationships/tags" Target="../tags/tag91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tags" Target="../tags/tag88.xml"/><Relationship Id="rId13" Type="http://schemas.openxmlformats.org/officeDocument/2006/relationships/tags" Target="../tags/tag87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 userDrawn="1">
            <p:custDataLst>
              <p:tags r:id="rId13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 userDrawn="1">
            <p:custDataLst>
              <p:tags r:id="rId14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1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9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116.xml"/><Relationship Id="rId16" Type="http://schemas.openxmlformats.org/officeDocument/2006/relationships/tags" Target="../tags/tag115.xml"/><Relationship Id="rId15" Type="http://schemas.openxmlformats.org/officeDocument/2006/relationships/tags" Target="../tags/tag114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tags" Target="../tags/tag100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image" Target="../media/image2.svg"/><Relationship Id="rId7" Type="http://schemas.openxmlformats.org/officeDocument/2006/relationships/image" Target="../media/image1.png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5" Type="http://schemas.openxmlformats.org/officeDocument/2006/relationships/slideLayout" Target="../slideLayouts/slideLayout16.xml"/><Relationship Id="rId24" Type="http://schemas.openxmlformats.org/officeDocument/2006/relationships/tags" Target="../tags/tag137.xml"/><Relationship Id="rId23" Type="http://schemas.openxmlformats.org/officeDocument/2006/relationships/tags" Target="../tags/tag136.xml"/><Relationship Id="rId22" Type="http://schemas.openxmlformats.org/officeDocument/2006/relationships/image" Target="../media/image6.svg"/><Relationship Id="rId21" Type="http://schemas.openxmlformats.org/officeDocument/2006/relationships/image" Target="../media/image5.png"/><Relationship Id="rId20" Type="http://schemas.openxmlformats.org/officeDocument/2006/relationships/tags" Target="../tags/tag135.xml"/><Relationship Id="rId2" Type="http://schemas.openxmlformats.org/officeDocument/2006/relationships/tags" Target="../tags/tag121.xml"/><Relationship Id="rId19" Type="http://schemas.openxmlformats.org/officeDocument/2006/relationships/tags" Target="../tags/tag134.xml"/><Relationship Id="rId18" Type="http://schemas.openxmlformats.org/officeDocument/2006/relationships/tags" Target="../tags/tag133.xml"/><Relationship Id="rId17" Type="http://schemas.openxmlformats.org/officeDocument/2006/relationships/tags" Target="../tags/tag132.xml"/><Relationship Id="rId16" Type="http://schemas.openxmlformats.org/officeDocument/2006/relationships/tags" Target="../tags/tag131.xml"/><Relationship Id="rId15" Type="http://schemas.openxmlformats.org/officeDocument/2006/relationships/image" Target="../media/image4.svg"/><Relationship Id="rId14" Type="http://schemas.openxmlformats.org/officeDocument/2006/relationships/image" Target="../media/image3.png"/><Relationship Id="rId13" Type="http://schemas.openxmlformats.org/officeDocument/2006/relationships/tags" Target="../tags/tag130.xm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tags" Target="../tags/tag12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2" Type="http://schemas.openxmlformats.org/officeDocument/2006/relationships/slideLayout" Target="../slideLayouts/slideLayout16.xml"/><Relationship Id="rId31" Type="http://schemas.openxmlformats.org/officeDocument/2006/relationships/tags" Target="../tags/tag162.xml"/><Relationship Id="rId30" Type="http://schemas.openxmlformats.org/officeDocument/2006/relationships/tags" Target="../tags/tag161.xml"/><Relationship Id="rId3" Type="http://schemas.openxmlformats.org/officeDocument/2006/relationships/tags" Target="../tags/tag140.xml"/><Relationship Id="rId29" Type="http://schemas.openxmlformats.org/officeDocument/2006/relationships/image" Target="../media/image12.svg"/><Relationship Id="rId28" Type="http://schemas.openxmlformats.org/officeDocument/2006/relationships/image" Target="../media/image11.png"/><Relationship Id="rId27" Type="http://schemas.openxmlformats.org/officeDocument/2006/relationships/tags" Target="../tags/tag160.xml"/><Relationship Id="rId26" Type="http://schemas.openxmlformats.org/officeDocument/2006/relationships/tags" Target="../tags/tag159.xml"/><Relationship Id="rId25" Type="http://schemas.openxmlformats.org/officeDocument/2006/relationships/tags" Target="../tags/tag158.xml"/><Relationship Id="rId24" Type="http://schemas.openxmlformats.org/officeDocument/2006/relationships/tags" Target="../tags/tag157.xml"/><Relationship Id="rId23" Type="http://schemas.openxmlformats.org/officeDocument/2006/relationships/tags" Target="../tags/tag156.xml"/><Relationship Id="rId22" Type="http://schemas.openxmlformats.org/officeDocument/2006/relationships/image" Target="../media/image10.svg"/><Relationship Id="rId21" Type="http://schemas.openxmlformats.org/officeDocument/2006/relationships/image" Target="../media/image9.png"/><Relationship Id="rId20" Type="http://schemas.openxmlformats.org/officeDocument/2006/relationships/tags" Target="../tags/tag155.xml"/><Relationship Id="rId2" Type="http://schemas.openxmlformats.org/officeDocument/2006/relationships/tags" Target="../tags/tag139.xml"/><Relationship Id="rId19" Type="http://schemas.openxmlformats.org/officeDocument/2006/relationships/tags" Target="../tags/tag154.xml"/><Relationship Id="rId18" Type="http://schemas.openxmlformats.org/officeDocument/2006/relationships/tags" Target="../tags/tag153.xml"/><Relationship Id="rId17" Type="http://schemas.openxmlformats.org/officeDocument/2006/relationships/tags" Target="../tags/tag152.xml"/><Relationship Id="rId16" Type="http://schemas.openxmlformats.org/officeDocument/2006/relationships/tags" Target="../tags/tag151.xml"/><Relationship Id="rId15" Type="http://schemas.openxmlformats.org/officeDocument/2006/relationships/image" Target="../media/image8.svg"/><Relationship Id="rId14" Type="http://schemas.openxmlformats.org/officeDocument/2006/relationships/image" Target="../media/image7.png"/><Relationship Id="rId13" Type="http://schemas.openxmlformats.org/officeDocument/2006/relationships/tags" Target="../tags/tag150.xml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tags" Target="../tags/tag138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7" Type="http://schemas.openxmlformats.org/officeDocument/2006/relationships/slideLayout" Target="../slideLayouts/slideLayout16.xml"/><Relationship Id="rId46" Type="http://schemas.openxmlformats.org/officeDocument/2006/relationships/tags" Target="../tags/tag205.xml"/><Relationship Id="rId45" Type="http://schemas.openxmlformats.org/officeDocument/2006/relationships/tags" Target="../tags/tag204.xml"/><Relationship Id="rId44" Type="http://schemas.openxmlformats.org/officeDocument/2006/relationships/tags" Target="../tags/tag203.xml"/><Relationship Id="rId43" Type="http://schemas.openxmlformats.org/officeDocument/2006/relationships/tags" Target="../tags/tag202.xml"/><Relationship Id="rId42" Type="http://schemas.openxmlformats.org/officeDocument/2006/relationships/tags" Target="../tags/tag201.xml"/><Relationship Id="rId41" Type="http://schemas.openxmlformats.org/officeDocument/2006/relationships/tags" Target="../tags/tag200.xml"/><Relationship Id="rId40" Type="http://schemas.openxmlformats.org/officeDocument/2006/relationships/tags" Target="../tags/tag199.xml"/><Relationship Id="rId4" Type="http://schemas.openxmlformats.org/officeDocument/2006/relationships/tags" Target="../tags/tag169.xml"/><Relationship Id="rId39" Type="http://schemas.openxmlformats.org/officeDocument/2006/relationships/tags" Target="../tags/tag198.xml"/><Relationship Id="rId38" Type="http://schemas.openxmlformats.org/officeDocument/2006/relationships/tags" Target="../tags/tag197.xml"/><Relationship Id="rId37" Type="http://schemas.openxmlformats.org/officeDocument/2006/relationships/tags" Target="../tags/tag196.xml"/><Relationship Id="rId36" Type="http://schemas.openxmlformats.org/officeDocument/2006/relationships/tags" Target="../tags/tag195.xml"/><Relationship Id="rId35" Type="http://schemas.openxmlformats.org/officeDocument/2006/relationships/tags" Target="../tags/tag194.xml"/><Relationship Id="rId34" Type="http://schemas.openxmlformats.org/officeDocument/2006/relationships/tags" Target="../tags/tag193.xml"/><Relationship Id="rId33" Type="http://schemas.openxmlformats.org/officeDocument/2006/relationships/tags" Target="../tags/tag192.xml"/><Relationship Id="rId32" Type="http://schemas.openxmlformats.org/officeDocument/2006/relationships/tags" Target="../tags/tag191.xml"/><Relationship Id="rId31" Type="http://schemas.openxmlformats.org/officeDocument/2006/relationships/tags" Target="../tags/tag190.xml"/><Relationship Id="rId30" Type="http://schemas.openxmlformats.org/officeDocument/2006/relationships/tags" Target="../tags/tag189.xml"/><Relationship Id="rId3" Type="http://schemas.openxmlformats.org/officeDocument/2006/relationships/tags" Target="../tags/tag168.xml"/><Relationship Id="rId29" Type="http://schemas.openxmlformats.org/officeDocument/2006/relationships/tags" Target="../tags/tag188.xml"/><Relationship Id="rId28" Type="http://schemas.openxmlformats.org/officeDocument/2006/relationships/image" Target="../media/image18.svg"/><Relationship Id="rId27" Type="http://schemas.openxmlformats.org/officeDocument/2006/relationships/image" Target="../media/image17.png"/><Relationship Id="rId26" Type="http://schemas.openxmlformats.org/officeDocument/2006/relationships/tags" Target="../tags/tag187.xml"/><Relationship Id="rId25" Type="http://schemas.openxmlformats.org/officeDocument/2006/relationships/tags" Target="../tags/tag186.xml"/><Relationship Id="rId24" Type="http://schemas.openxmlformats.org/officeDocument/2006/relationships/tags" Target="../tags/tag185.xml"/><Relationship Id="rId23" Type="http://schemas.openxmlformats.org/officeDocument/2006/relationships/tags" Target="../tags/tag184.xml"/><Relationship Id="rId22" Type="http://schemas.openxmlformats.org/officeDocument/2006/relationships/tags" Target="../tags/tag183.xml"/><Relationship Id="rId21" Type="http://schemas.openxmlformats.org/officeDocument/2006/relationships/image" Target="../media/image16.svg"/><Relationship Id="rId20" Type="http://schemas.openxmlformats.org/officeDocument/2006/relationships/image" Target="../media/image15.png"/><Relationship Id="rId2" Type="http://schemas.openxmlformats.org/officeDocument/2006/relationships/tags" Target="../tags/tag167.xml"/><Relationship Id="rId19" Type="http://schemas.openxmlformats.org/officeDocument/2006/relationships/tags" Target="../tags/tag182.xml"/><Relationship Id="rId18" Type="http://schemas.openxmlformats.org/officeDocument/2006/relationships/tags" Target="../tags/tag181.xml"/><Relationship Id="rId17" Type="http://schemas.openxmlformats.org/officeDocument/2006/relationships/tags" Target="../tags/tag180.xml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image" Target="../media/image14.svg"/><Relationship Id="rId11" Type="http://schemas.openxmlformats.org/officeDocument/2006/relationships/image" Target="../media/image13.png"/><Relationship Id="rId10" Type="http://schemas.openxmlformats.org/officeDocument/2006/relationships/tags" Target="../tags/tag175.xml"/><Relationship Id="rId1" Type="http://schemas.openxmlformats.org/officeDocument/2006/relationships/tags" Target="../tags/tag16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14.xml"/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3" Type="http://schemas.openxmlformats.org/officeDocument/2006/relationships/slideLayout" Target="../slideLayouts/slideLayout16.xml"/><Relationship Id="rId22" Type="http://schemas.openxmlformats.org/officeDocument/2006/relationships/tags" Target="../tags/tag227.xml"/><Relationship Id="rId21" Type="http://schemas.openxmlformats.org/officeDocument/2006/relationships/tags" Target="../tags/tag226.xml"/><Relationship Id="rId20" Type="http://schemas.openxmlformats.org/officeDocument/2006/relationships/tags" Target="../tags/tag225.xml"/><Relationship Id="rId2" Type="http://schemas.openxmlformats.org/officeDocument/2006/relationships/tags" Target="../tags/tag207.xml"/><Relationship Id="rId19" Type="http://schemas.openxmlformats.org/officeDocument/2006/relationships/tags" Target="../tags/tag224.xml"/><Relationship Id="rId18" Type="http://schemas.openxmlformats.org/officeDocument/2006/relationships/tags" Target="../tags/tag223.xml"/><Relationship Id="rId17" Type="http://schemas.openxmlformats.org/officeDocument/2006/relationships/tags" Target="../tags/tag222.xml"/><Relationship Id="rId16" Type="http://schemas.openxmlformats.org/officeDocument/2006/relationships/tags" Target="../tags/tag221.xml"/><Relationship Id="rId15" Type="http://schemas.openxmlformats.org/officeDocument/2006/relationships/tags" Target="../tags/tag220.xml"/><Relationship Id="rId14" Type="http://schemas.openxmlformats.org/officeDocument/2006/relationships/tags" Target="../tags/tag219.xml"/><Relationship Id="rId13" Type="http://schemas.openxmlformats.org/officeDocument/2006/relationships/tags" Target="../tags/tag218.xml"/><Relationship Id="rId12" Type="http://schemas.openxmlformats.org/officeDocument/2006/relationships/tags" Target="../tags/tag217.xml"/><Relationship Id="rId11" Type="http://schemas.openxmlformats.org/officeDocument/2006/relationships/tags" Target="../tags/tag216.xml"/><Relationship Id="rId10" Type="http://schemas.openxmlformats.org/officeDocument/2006/relationships/tags" Target="../tags/tag215.xml"/><Relationship Id="rId1" Type="http://schemas.openxmlformats.org/officeDocument/2006/relationships/tags" Target="../tags/tag20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4" Type="http://schemas.openxmlformats.org/officeDocument/2006/relationships/slideLayout" Target="../slideLayouts/slideLayout16.xml"/><Relationship Id="rId33" Type="http://schemas.openxmlformats.org/officeDocument/2006/relationships/tags" Target="../tags/tag260.xml"/><Relationship Id="rId32" Type="http://schemas.openxmlformats.org/officeDocument/2006/relationships/tags" Target="../tags/tag259.xml"/><Relationship Id="rId31" Type="http://schemas.openxmlformats.org/officeDocument/2006/relationships/tags" Target="../tags/tag258.xml"/><Relationship Id="rId30" Type="http://schemas.openxmlformats.org/officeDocument/2006/relationships/tags" Target="../tags/tag257.xml"/><Relationship Id="rId3" Type="http://schemas.openxmlformats.org/officeDocument/2006/relationships/tags" Target="../tags/tag230.xml"/><Relationship Id="rId29" Type="http://schemas.openxmlformats.org/officeDocument/2006/relationships/tags" Target="../tags/tag256.xml"/><Relationship Id="rId28" Type="http://schemas.openxmlformats.org/officeDocument/2006/relationships/tags" Target="../tags/tag255.xml"/><Relationship Id="rId27" Type="http://schemas.openxmlformats.org/officeDocument/2006/relationships/tags" Target="../tags/tag254.xml"/><Relationship Id="rId26" Type="http://schemas.openxmlformats.org/officeDocument/2006/relationships/tags" Target="../tags/tag253.xml"/><Relationship Id="rId25" Type="http://schemas.openxmlformats.org/officeDocument/2006/relationships/tags" Target="../tags/tag252.xml"/><Relationship Id="rId24" Type="http://schemas.openxmlformats.org/officeDocument/2006/relationships/tags" Target="../tags/tag251.xml"/><Relationship Id="rId23" Type="http://schemas.openxmlformats.org/officeDocument/2006/relationships/tags" Target="../tags/tag250.xml"/><Relationship Id="rId22" Type="http://schemas.openxmlformats.org/officeDocument/2006/relationships/tags" Target="../tags/tag249.xml"/><Relationship Id="rId21" Type="http://schemas.openxmlformats.org/officeDocument/2006/relationships/tags" Target="../tags/tag248.xml"/><Relationship Id="rId20" Type="http://schemas.openxmlformats.org/officeDocument/2006/relationships/tags" Target="../tags/tag247.xml"/><Relationship Id="rId2" Type="http://schemas.openxmlformats.org/officeDocument/2006/relationships/tags" Target="../tags/tag229.xml"/><Relationship Id="rId19" Type="http://schemas.openxmlformats.org/officeDocument/2006/relationships/tags" Target="../tags/tag246.xml"/><Relationship Id="rId18" Type="http://schemas.openxmlformats.org/officeDocument/2006/relationships/tags" Target="../tags/tag245.xml"/><Relationship Id="rId17" Type="http://schemas.openxmlformats.org/officeDocument/2006/relationships/tags" Target="../tags/tag244.xml"/><Relationship Id="rId16" Type="http://schemas.openxmlformats.org/officeDocument/2006/relationships/tags" Target="../tags/tag243.xml"/><Relationship Id="rId15" Type="http://schemas.openxmlformats.org/officeDocument/2006/relationships/tags" Target="../tags/tag242.xml"/><Relationship Id="rId14" Type="http://schemas.openxmlformats.org/officeDocument/2006/relationships/tags" Target="../tags/tag241.xml"/><Relationship Id="rId13" Type="http://schemas.openxmlformats.org/officeDocument/2006/relationships/tags" Target="../tags/tag240.xml"/><Relationship Id="rId12" Type="http://schemas.openxmlformats.org/officeDocument/2006/relationships/tags" Target="../tags/tag239.xml"/><Relationship Id="rId11" Type="http://schemas.openxmlformats.org/officeDocument/2006/relationships/tags" Target="../tags/tag238.xml"/><Relationship Id="rId10" Type="http://schemas.openxmlformats.org/officeDocument/2006/relationships/tags" Target="../tags/tag237.xml"/><Relationship Id="rId1" Type="http://schemas.openxmlformats.org/officeDocument/2006/relationships/tags" Target="../tags/tag22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2" Type="http://schemas.openxmlformats.org/officeDocument/2006/relationships/slideLayout" Target="../slideLayouts/slideLayout16.xml"/><Relationship Id="rId21" Type="http://schemas.openxmlformats.org/officeDocument/2006/relationships/tags" Target="../tags/tag281.xml"/><Relationship Id="rId20" Type="http://schemas.openxmlformats.org/officeDocument/2006/relationships/tags" Target="../tags/tag280.xml"/><Relationship Id="rId2" Type="http://schemas.openxmlformats.org/officeDocument/2006/relationships/tags" Target="../tags/tag262.xml"/><Relationship Id="rId19" Type="http://schemas.openxmlformats.org/officeDocument/2006/relationships/tags" Target="../tags/tag279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22.jpeg"/><Relationship Id="rId1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84.xml"/><Relationship Id="rId2" Type="http://schemas.openxmlformats.org/officeDocument/2006/relationships/tags" Target="../tags/tag283.xml"/><Relationship Id="rId1" Type="http://schemas.openxmlformats.org/officeDocument/2006/relationships/tags" Target="../tags/tag28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tags" Target="../tags/tag291.xml"/><Relationship Id="rId63" Type="http://schemas.openxmlformats.org/officeDocument/2006/relationships/slideLayout" Target="../slideLayouts/slideLayout16.xml"/><Relationship Id="rId62" Type="http://schemas.openxmlformats.org/officeDocument/2006/relationships/tags" Target="../tags/tag340.xml"/><Relationship Id="rId61" Type="http://schemas.openxmlformats.org/officeDocument/2006/relationships/tags" Target="../tags/tag339.xml"/><Relationship Id="rId60" Type="http://schemas.openxmlformats.org/officeDocument/2006/relationships/tags" Target="../tags/tag338.xml"/><Relationship Id="rId6" Type="http://schemas.openxmlformats.org/officeDocument/2006/relationships/tags" Target="../tags/tag290.xml"/><Relationship Id="rId59" Type="http://schemas.openxmlformats.org/officeDocument/2006/relationships/tags" Target="../tags/tag337.xml"/><Relationship Id="rId58" Type="http://schemas.openxmlformats.org/officeDocument/2006/relationships/tags" Target="../tags/tag336.xml"/><Relationship Id="rId57" Type="http://schemas.openxmlformats.org/officeDocument/2006/relationships/tags" Target="../tags/tag335.xml"/><Relationship Id="rId56" Type="http://schemas.openxmlformats.org/officeDocument/2006/relationships/tags" Target="../tags/tag334.xml"/><Relationship Id="rId55" Type="http://schemas.openxmlformats.org/officeDocument/2006/relationships/tags" Target="../tags/tag333.xml"/><Relationship Id="rId54" Type="http://schemas.openxmlformats.org/officeDocument/2006/relationships/tags" Target="../tags/tag332.xml"/><Relationship Id="rId53" Type="http://schemas.openxmlformats.org/officeDocument/2006/relationships/tags" Target="../tags/tag331.xml"/><Relationship Id="rId52" Type="http://schemas.openxmlformats.org/officeDocument/2006/relationships/tags" Target="../tags/tag330.xml"/><Relationship Id="rId51" Type="http://schemas.openxmlformats.org/officeDocument/2006/relationships/image" Target="../media/image26.svg"/><Relationship Id="rId50" Type="http://schemas.openxmlformats.org/officeDocument/2006/relationships/image" Target="../media/image25.png"/><Relationship Id="rId5" Type="http://schemas.openxmlformats.org/officeDocument/2006/relationships/tags" Target="../tags/tag289.xml"/><Relationship Id="rId49" Type="http://schemas.openxmlformats.org/officeDocument/2006/relationships/tags" Target="../tags/tag329.xml"/><Relationship Id="rId48" Type="http://schemas.openxmlformats.org/officeDocument/2006/relationships/tags" Target="../tags/tag328.xml"/><Relationship Id="rId47" Type="http://schemas.openxmlformats.org/officeDocument/2006/relationships/tags" Target="../tags/tag327.xml"/><Relationship Id="rId46" Type="http://schemas.openxmlformats.org/officeDocument/2006/relationships/tags" Target="../tags/tag326.xml"/><Relationship Id="rId45" Type="http://schemas.openxmlformats.org/officeDocument/2006/relationships/tags" Target="../tags/tag325.xml"/><Relationship Id="rId44" Type="http://schemas.openxmlformats.org/officeDocument/2006/relationships/tags" Target="../tags/tag324.xml"/><Relationship Id="rId43" Type="http://schemas.openxmlformats.org/officeDocument/2006/relationships/tags" Target="../tags/tag323.xml"/><Relationship Id="rId42" Type="http://schemas.openxmlformats.org/officeDocument/2006/relationships/tags" Target="../tags/tag322.xml"/><Relationship Id="rId41" Type="http://schemas.openxmlformats.org/officeDocument/2006/relationships/tags" Target="../tags/tag321.xml"/><Relationship Id="rId40" Type="http://schemas.openxmlformats.org/officeDocument/2006/relationships/image" Target="../media/image24.svg"/><Relationship Id="rId4" Type="http://schemas.openxmlformats.org/officeDocument/2006/relationships/tags" Target="../tags/tag288.xml"/><Relationship Id="rId39" Type="http://schemas.openxmlformats.org/officeDocument/2006/relationships/image" Target="../media/image23.png"/><Relationship Id="rId38" Type="http://schemas.openxmlformats.org/officeDocument/2006/relationships/tags" Target="../tags/tag320.xml"/><Relationship Id="rId37" Type="http://schemas.openxmlformats.org/officeDocument/2006/relationships/tags" Target="../tags/tag319.xml"/><Relationship Id="rId36" Type="http://schemas.openxmlformats.org/officeDocument/2006/relationships/tags" Target="../tags/tag318.xml"/><Relationship Id="rId35" Type="http://schemas.openxmlformats.org/officeDocument/2006/relationships/tags" Target="../tags/tag317.xml"/><Relationship Id="rId34" Type="http://schemas.openxmlformats.org/officeDocument/2006/relationships/tags" Target="../tags/tag316.xml"/><Relationship Id="rId33" Type="http://schemas.openxmlformats.org/officeDocument/2006/relationships/image" Target="../media/image4.svg"/><Relationship Id="rId32" Type="http://schemas.openxmlformats.org/officeDocument/2006/relationships/image" Target="../media/image3.png"/><Relationship Id="rId31" Type="http://schemas.openxmlformats.org/officeDocument/2006/relationships/tags" Target="../tags/tag315.xml"/><Relationship Id="rId30" Type="http://schemas.openxmlformats.org/officeDocument/2006/relationships/tags" Target="../tags/tag314.xml"/><Relationship Id="rId3" Type="http://schemas.openxmlformats.org/officeDocument/2006/relationships/tags" Target="../tags/tag287.xml"/><Relationship Id="rId29" Type="http://schemas.openxmlformats.org/officeDocument/2006/relationships/tags" Target="../tags/tag313.xml"/><Relationship Id="rId28" Type="http://schemas.openxmlformats.org/officeDocument/2006/relationships/tags" Target="../tags/tag312.xml"/><Relationship Id="rId27" Type="http://schemas.openxmlformats.org/officeDocument/2006/relationships/tags" Target="../tags/tag311.xml"/><Relationship Id="rId26" Type="http://schemas.openxmlformats.org/officeDocument/2006/relationships/tags" Target="../tags/tag310.xml"/><Relationship Id="rId25" Type="http://schemas.openxmlformats.org/officeDocument/2006/relationships/tags" Target="../tags/tag309.xml"/><Relationship Id="rId24" Type="http://schemas.openxmlformats.org/officeDocument/2006/relationships/tags" Target="../tags/tag308.xml"/><Relationship Id="rId23" Type="http://schemas.openxmlformats.org/officeDocument/2006/relationships/tags" Target="../tags/tag307.xml"/><Relationship Id="rId22" Type="http://schemas.openxmlformats.org/officeDocument/2006/relationships/tags" Target="../tags/tag306.xml"/><Relationship Id="rId21" Type="http://schemas.openxmlformats.org/officeDocument/2006/relationships/tags" Target="../tags/tag305.xml"/><Relationship Id="rId20" Type="http://schemas.openxmlformats.org/officeDocument/2006/relationships/tags" Target="../tags/tag304.xml"/><Relationship Id="rId2" Type="http://schemas.openxmlformats.org/officeDocument/2006/relationships/tags" Target="../tags/tag286.xml"/><Relationship Id="rId19" Type="http://schemas.openxmlformats.org/officeDocument/2006/relationships/tags" Target="../tags/tag303.xml"/><Relationship Id="rId18" Type="http://schemas.openxmlformats.org/officeDocument/2006/relationships/tags" Target="../tags/tag302.xml"/><Relationship Id="rId17" Type="http://schemas.openxmlformats.org/officeDocument/2006/relationships/tags" Target="../tags/tag301.xml"/><Relationship Id="rId16" Type="http://schemas.openxmlformats.org/officeDocument/2006/relationships/tags" Target="../tags/tag300.xml"/><Relationship Id="rId15" Type="http://schemas.openxmlformats.org/officeDocument/2006/relationships/tags" Target="../tags/tag299.xml"/><Relationship Id="rId14" Type="http://schemas.openxmlformats.org/officeDocument/2006/relationships/tags" Target="../tags/tag298.xml"/><Relationship Id="rId13" Type="http://schemas.openxmlformats.org/officeDocument/2006/relationships/tags" Target="../tags/tag297.xml"/><Relationship Id="rId12" Type="http://schemas.openxmlformats.org/officeDocument/2006/relationships/tags" Target="../tags/tag296.xml"/><Relationship Id="rId11" Type="http://schemas.openxmlformats.org/officeDocument/2006/relationships/tags" Target="../tags/tag295.xml"/><Relationship Id="rId10" Type="http://schemas.openxmlformats.org/officeDocument/2006/relationships/tags" Target="../tags/tag294.xml"/><Relationship Id="rId1" Type="http://schemas.openxmlformats.org/officeDocument/2006/relationships/tags" Target="../tags/tag28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48.xml"/><Relationship Id="rId8" Type="http://schemas.openxmlformats.org/officeDocument/2006/relationships/tags" Target="../tags/tag347.xml"/><Relationship Id="rId7" Type="http://schemas.openxmlformats.org/officeDocument/2006/relationships/image" Target="../media/image27.png"/><Relationship Id="rId6" Type="http://schemas.openxmlformats.org/officeDocument/2006/relationships/tags" Target="../tags/tag346.xml"/><Relationship Id="rId5" Type="http://schemas.openxmlformats.org/officeDocument/2006/relationships/tags" Target="../tags/tag345.xml"/><Relationship Id="rId4" Type="http://schemas.openxmlformats.org/officeDocument/2006/relationships/tags" Target="../tags/tag344.xml"/><Relationship Id="rId3" Type="http://schemas.openxmlformats.org/officeDocument/2006/relationships/tags" Target="../tags/tag343.xml"/><Relationship Id="rId29" Type="http://schemas.openxmlformats.org/officeDocument/2006/relationships/slideLayout" Target="../slideLayouts/slideLayout16.xml"/><Relationship Id="rId28" Type="http://schemas.openxmlformats.org/officeDocument/2006/relationships/tags" Target="../tags/tag361.xml"/><Relationship Id="rId27" Type="http://schemas.openxmlformats.org/officeDocument/2006/relationships/tags" Target="../tags/tag360.xml"/><Relationship Id="rId26" Type="http://schemas.openxmlformats.org/officeDocument/2006/relationships/image" Target="../media/image33.svg"/><Relationship Id="rId25" Type="http://schemas.openxmlformats.org/officeDocument/2006/relationships/image" Target="../media/image32.png"/><Relationship Id="rId24" Type="http://schemas.openxmlformats.org/officeDocument/2006/relationships/tags" Target="../tags/tag359.xml"/><Relationship Id="rId23" Type="http://schemas.openxmlformats.org/officeDocument/2006/relationships/tags" Target="../tags/tag358.xml"/><Relationship Id="rId22" Type="http://schemas.openxmlformats.org/officeDocument/2006/relationships/tags" Target="../tags/tag357.xml"/><Relationship Id="rId21" Type="http://schemas.openxmlformats.org/officeDocument/2006/relationships/tags" Target="../tags/tag356.xml"/><Relationship Id="rId20" Type="http://schemas.openxmlformats.org/officeDocument/2006/relationships/tags" Target="../tags/tag355.xml"/><Relationship Id="rId2" Type="http://schemas.openxmlformats.org/officeDocument/2006/relationships/tags" Target="../tags/tag342.xml"/><Relationship Id="rId19" Type="http://schemas.openxmlformats.org/officeDocument/2006/relationships/image" Target="../media/image31.svg"/><Relationship Id="rId18" Type="http://schemas.openxmlformats.org/officeDocument/2006/relationships/image" Target="../media/image30.png"/><Relationship Id="rId17" Type="http://schemas.openxmlformats.org/officeDocument/2006/relationships/tags" Target="../tags/tag354.xml"/><Relationship Id="rId16" Type="http://schemas.openxmlformats.org/officeDocument/2006/relationships/tags" Target="../tags/tag353.xml"/><Relationship Id="rId15" Type="http://schemas.openxmlformats.org/officeDocument/2006/relationships/tags" Target="../tags/tag352.xml"/><Relationship Id="rId14" Type="http://schemas.openxmlformats.org/officeDocument/2006/relationships/tags" Target="../tags/tag351.xml"/><Relationship Id="rId13" Type="http://schemas.openxmlformats.org/officeDocument/2006/relationships/tags" Target="../tags/tag350.xml"/><Relationship Id="rId12" Type="http://schemas.openxmlformats.org/officeDocument/2006/relationships/image" Target="../media/image29.svg"/><Relationship Id="rId11" Type="http://schemas.openxmlformats.org/officeDocument/2006/relationships/image" Target="../media/image28.png"/><Relationship Id="rId10" Type="http://schemas.openxmlformats.org/officeDocument/2006/relationships/tags" Target="../tags/tag349.xml"/><Relationship Id="rId1" Type="http://schemas.openxmlformats.org/officeDocument/2006/relationships/tags" Target="../tags/tag34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70.xml"/><Relationship Id="rId8" Type="http://schemas.openxmlformats.org/officeDocument/2006/relationships/tags" Target="../tags/tag369.xml"/><Relationship Id="rId7" Type="http://schemas.openxmlformats.org/officeDocument/2006/relationships/tags" Target="../tags/tag368.xml"/><Relationship Id="rId6" Type="http://schemas.openxmlformats.org/officeDocument/2006/relationships/tags" Target="../tags/tag367.xml"/><Relationship Id="rId5" Type="http://schemas.openxmlformats.org/officeDocument/2006/relationships/tags" Target="../tags/tag366.xml"/><Relationship Id="rId4" Type="http://schemas.openxmlformats.org/officeDocument/2006/relationships/tags" Target="../tags/tag365.xml"/><Relationship Id="rId35" Type="http://schemas.openxmlformats.org/officeDocument/2006/relationships/slideLayout" Target="../slideLayouts/slideLayout16.xml"/><Relationship Id="rId34" Type="http://schemas.openxmlformats.org/officeDocument/2006/relationships/tags" Target="../tags/tag387.xml"/><Relationship Id="rId33" Type="http://schemas.openxmlformats.org/officeDocument/2006/relationships/tags" Target="../tags/tag386.xml"/><Relationship Id="rId32" Type="http://schemas.openxmlformats.org/officeDocument/2006/relationships/image" Target="../media/image33.svg"/><Relationship Id="rId31" Type="http://schemas.openxmlformats.org/officeDocument/2006/relationships/image" Target="../media/image32.png"/><Relationship Id="rId30" Type="http://schemas.openxmlformats.org/officeDocument/2006/relationships/tags" Target="../tags/tag385.xml"/><Relationship Id="rId3" Type="http://schemas.openxmlformats.org/officeDocument/2006/relationships/tags" Target="../tags/tag364.xml"/><Relationship Id="rId29" Type="http://schemas.openxmlformats.org/officeDocument/2006/relationships/tags" Target="../tags/tag384.xml"/><Relationship Id="rId28" Type="http://schemas.openxmlformats.org/officeDocument/2006/relationships/tags" Target="../tags/tag383.xml"/><Relationship Id="rId27" Type="http://schemas.openxmlformats.org/officeDocument/2006/relationships/tags" Target="../tags/tag382.xml"/><Relationship Id="rId26" Type="http://schemas.openxmlformats.org/officeDocument/2006/relationships/image" Target="../media/image37.svg"/><Relationship Id="rId25" Type="http://schemas.openxmlformats.org/officeDocument/2006/relationships/image" Target="../media/image36.png"/><Relationship Id="rId24" Type="http://schemas.openxmlformats.org/officeDocument/2006/relationships/tags" Target="../tags/tag381.xml"/><Relationship Id="rId23" Type="http://schemas.openxmlformats.org/officeDocument/2006/relationships/tags" Target="../tags/tag380.xml"/><Relationship Id="rId22" Type="http://schemas.openxmlformats.org/officeDocument/2006/relationships/tags" Target="../tags/tag379.xml"/><Relationship Id="rId21" Type="http://schemas.openxmlformats.org/officeDocument/2006/relationships/tags" Target="../tags/tag378.xml"/><Relationship Id="rId20" Type="http://schemas.openxmlformats.org/officeDocument/2006/relationships/image" Target="../media/image35.svg"/><Relationship Id="rId2" Type="http://schemas.openxmlformats.org/officeDocument/2006/relationships/tags" Target="../tags/tag363.xml"/><Relationship Id="rId19" Type="http://schemas.openxmlformats.org/officeDocument/2006/relationships/image" Target="../media/image34.png"/><Relationship Id="rId18" Type="http://schemas.openxmlformats.org/officeDocument/2006/relationships/tags" Target="../tags/tag377.xml"/><Relationship Id="rId17" Type="http://schemas.openxmlformats.org/officeDocument/2006/relationships/tags" Target="../tags/tag376.xml"/><Relationship Id="rId16" Type="http://schemas.openxmlformats.org/officeDocument/2006/relationships/tags" Target="../tags/tag375.xml"/><Relationship Id="rId15" Type="http://schemas.openxmlformats.org/officeDocument/2006/relationships/tags" Target="../tags/tag374.xml"/><Relationship Id="rId14" Type="http://schemas.openxmlformats.org/officeDocument/2006/relationships/image" Target="../media/image26.svg"/><Relationship Id="rId13" Type="http://schemas.openxmlformats.org/officeDocument/2006/relationships/image" Target="../media/image25.png"/><Relationship Id="rId12" Type="http://schemas.openxmlformats.org/officeDocument/2006/relationships/tags" Target="../tags/tag373.xml"/><Relationship Id="rId11" Type="http://schemas.openxmlformats.org/officeDocument/2006/relationships/tags" Target="../tags/tag372.xml"/><Relationship Id="rId10" Type="http://schemas.openxmlformats.org/officeDocument/2006/relationships/tags" Target="../tags/tag371.xml"/><Relationship Id="rId1" Type="http://schemas.openxmlformats.org/officeDocument/2006/relationships/tags" Target="../tags/tag36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94.xml"/><Relationship Id="rId8" Type="http://schemas.openxmlformats.org/officeDocument/2006/relationships/tags" Target="../tags/tag393.xml"/><Relationship Id="rId7" Type="http://schemas.openxmlformats.org/officeDocument/2006/relationships/tags" Target="../tags/tag392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tags" Target="../tags/tag391.xml"/><Relationship Id="rId3" Type="http://schemas.openxmlformats.org/officeDocument/2006/relationships/tags" Target="../tags/tag390.xml"/><Relationship Id="rId27" Type="http://schemas.openxmlformats.org/officeDocument/2006/relationships/slideLayout" Target="../slideLayouts/slideLayout16.xml"/><Relationship Id="rId26" Type="http://schemas.openxmlformats.org/officeDocument/2006/relationships/image" Target="../media/image44.png"/><Relationship Id="rId25" Type="http://schemas.openxmlformats.org/officeDocument/2006/relationships/tags" Target="../tags/tag406.xml"/><Relationship Id="rId24" Type="http://schemas.openxmlformats.org/officeDocument/2006/relationships/tags" Target="../tags/tag405.xml"/><Relationship Id="rId23" Type="http://schemas.openxmlformats.org/officeDocument/2006/relationships/tags" Target="../tags/tag404.xml"/><Relationship Id="rId22" Type="http://schemas.openxmlformats.org/officeDocument/2006/relationships/tags" Target="../tags/tag403.xml"/><Relationship Id="rId21" Type="http://schemas.openxmlformats.org/officeDocument/2006/relationships/tags" Target="../tags/tag402.xml"/><Relationship Id="rId20" Type="http://schemas.openxmlformats.org/officeDocument/2006/relationships/image" Target="../media/image43.svg"/><Relationship Id="rId2" Type="http://schemas.openxmlformats.org/officeDocument/2006/relationships/tags" Target="../tags/tag389.xml"/><Relationship Id="rId19" Type="http://schemas.openxmlformats.org/officeDocument/2006/relationships/image" Target="../media/image42.png"/><Relationship Id="rId18" Type="http://schemas.openxmlformats.org/officeDocument/2006/relationships/tags" Target="../tags/tag401.xml"/><Relationship Id="rId17" Type="http://schemas.openxmlformats.org/officeDocument/2006/relationships/tags" Target="../tags/tag400.xml"/><Relationship Id="rId16" Type="http://schemas.openxmlformats.org/officeDocument/2006/relationships/tags" Target="../tags/tag399.xml"/><Relationship Id="rId15" Type="http://schemas.openxmlformats.org/officeDocument/2006/relationships/tags" Target="../tags/tag398.xml"/><Relationship Id="rId14" Type="http://schemas.openxmlformats.org/officeDocument/2006/relationships/tags" Target="../tags/tag397.xml"/><Relationship Id="rId13" Type="http://schemas.openxmlformats.org/officeDocument/2006/relationships/image" Target="../media/image41.svg"/><Relationship Id="rId12" Type="http://schemas.openxmlformats.org/officeDocument/2006/relationships/image" Target="../media/image40.png"/><Relationship Id="rId11" Type="http://schemas.openxmlformats.org/officeDocument/2006/relationships/tags" Target="../tags/tag396.xml"/><Relationship Id="rId10" Type="http://schemas.openxmlformats.org/officeDocument/2006/relationships/tags" Target="../tags/tag395.xml"/><Relationship Id="rId1" Type="http://schemas.openxmlformats.org/officeDocument/2006/relationships/tags" Target="../tags/tag388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409.xml"/><Relationship Id="rId2" Type="http://schemas.openxmlformats.org/officeDocument/2006/relationships/tags" Target="../tags/tag408.xml"/><Relationship Id="rId1" Type="http://schemas.openxmlformats.org/officeDocument/2006/relationships/tags" Target="../tags/tag40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416.xml"/><Relationship Id="rId8" Type="http://schemas.openxmlformats.org/officeDocument/2006/relationships/tags" Target="../tags/tag415.xml"/><Relationship Id="rId7" Type="http://schemas.openxmlformats.org/officeDocument/2006/relationships/tags" Target="../tags/tag414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1" Type="http://schemas.openxmlformats.org/officeDocument/2006/relationships/slideLayout" Target="../slideLayouts/slideLayout16.xml"/><Relationship Id="rId40" Type="http://schemas.openxmlformats.org/officeDocument/2006/relationships/tags" Target="../tags/tag443.xml"/><Relationship Id="rId4" Type="http://schemas.openxmlformats.org/officeDocument/2006/relationships/tags" Target="../tags/tag413.xml"/><Relationship Id="rId39" Type="http://schemas.openxmlformats.org/officeDocument/2006/relationships/tags" Target="../tags/tag442.xml"/><Relationship Id="rId38" Type="http://schemas.openxmlformats.org/officeDocument/2006/relationships/tags" Target="../tags/tag441.xml"/><Relationship Id="rId37" Type="http://schemas.openxmlformats.org/officeDocument/2006/relationships/tags" Target="../tags/tag440.xml"/><Relationship Id="rId36" Type="http://schemas.openxmlformats.org/officeDocument/2006/relationships/tags" Target="../tags/tag439.xml"/><Relationship Id="rId35" Type="http://schemas.openxmlformats.org/officeDocument/2006/relationships/tags" Target="../tags/tag438.xml"/><Relationship Id="rId34" Type="http://schemas.openxmlformats.org/officeDocument/2006/relationships/tags" Target="../tags/tag437.xml"/><Relationship Id="rId33" Type="http://schemas.openxmlformats.org/officeDocument/2006/relationships/tags" Target="../tags/tag436.xml"/><Relationship Id="rId32" Type="http://schemas.openxmlformats.org/officeDocument/2006/relationships/tags" Target="../tags/tag435.xml"/><Relationship Id="rId31" Type="http://schemas.openxmlformats.org/officeDocument/2006/relationships/tags" Target="../tags/tag434.xml"/><Relationship Id="rId30" Type="http://schemas.openxmlformats.org/officeDocument/2006/relationships/tags" Target="../tags/tag433.xml"/><Relationship Id="rId3" Type="http://schemas.openxmlformats.org/officeDocument/2006/relationships/tags" Target="../tags/tag412.xml"/><Relationship Id="rId29" Type="http://schemas.openxmlformats.org/officeDocument/2006/relationships/image" Target="../media/image48.svg"/><Relationship Id="rId28" Type="http://schemas.openxmlformats.org/officeDocument/2006/relationships/image" Target="../media/image47.png"/><Relationship Id="rId27" Type="http://schemas.openxmlformats.org/officeDocument/2006/relationships/tags" Target="../tags/tag432.xml"/><Relationship Id="rId26" Type="http://schemas.openxmlformats.org/officeDocument/2006/relationships/tags" Target="../tags/tag431.xml"/><Relationship Id="rId25" Type="http://schemas.openxmlformats.org/officeDocument/2006/relationships/tags" Target="../tags/tag430.xml"/><Relationship Id="rId24" Type="http://schemas.openxmlformats.org/officeDocument/2006/relationships/tags" Target="../tags/tag429.xml"/><Relationship Id="rId23" Type="http://schemas.openxmlformats.org/officeDocument/2006/relationships/tags" Target="../tags/tag428.xml"/><Relationship Id="rId22" Type="http://schemas.openxmlformats.org/officeDocument/2006/relationships/tags" Target="../tags/tag427.xml"/><Relationship Id="rId21" Type="http://schemas.openxmlformats.org/officeDocument/2006/relationships/tags" Target="../tags/tag426.xml"/><Relationship Id="rId20" Type="http://schemas.openxmlformats.org/officeDocument/2006/relationships/tags" Target="../tags/tag425.xml"/><Relationship Id="rId2" Type="http://schemas.openxmlformats.org/officeDocument/2006/relationships/tags" Target="../tags/tag411.xml"/><Relationship Id="rId19" Type="http://schemas.openxmlformats.org/officeDocument/2006/relationships/tags" Target="../tags/tag424.xml"/><Relationship Id="rId18" Type="http://schemas.openxmlformats.org/officeDocument/2006/relationships/tags" Target="../tags/tag423.xml"/><Relationship Id="rId17" Type="http://schemas.openxmlformats.org/officeDocument/2006/relationships/image" Target="../media/image46.svg"/><Relationship Id="rId16" Type="http://schemas.openxmlformats.org/officeDocument/2006/relationships/image" Target="../media/image45.png"/><Relationship Id="rId15" Type="http://schemas.openxmlformats.org/officeDocument/2006/relationships/tags" Target="../tags/tag422.xml"/><Relationship Id="rId14" Type="http://schemas.openxmlformats.org/officeDocument/2006/relationships/tags" Target="../tags/tag421.xml"/><Relationship Id="rId13" Type="http://schemas.openxmlformats.org/officeDocument/2006/relationships/tags" Target="../tags/tag420.xml"/><Relationship Id="rId12" Type="http://schemas.openxmlformats.org/officeDocument/2006/relationships/tags" Target="../tags/tag419.xml"/><Relationship Id="rId11" Type="http://schemas.openxmlformats.org/officeDocument/2006/relationships/tags" Target="../tags/tag418.xml"/><Relationship Id="rId10" Type="http://schemas.openxmlformats.org/officeDocument/2006/relationships/tags" Target="../tags/tag417.xml"/><Relationship Id="rId1" Type="http://schemas.openxmlformats.org/officeDocument/2006/relationships/tags" Target="../tags/tag410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446.xml"/><Relationship Id="rId2" Type="http://schemas.openxmlformats.org/officeDocument/2006/relationships/tags" Target="../tags/tag445.xml"/><Relationship Id="rId1" Type="http://schemas.openxmlformats.org/officeDocument/2006/relationships/tags" Target="../tags/tag4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2026/06/04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面向高效部署的扩散模型关键组件简化实证研究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汇报人：</a:t>
            </a:r>
            <a:r>
              <a:rPr lang="en-US" altLang="zh-CN"/>
              <a:t>libinghang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53075" y="457200"/>
            <a:ext cx="1085850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85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目录</a:t>
            </a:r>
            <a:endParaRPr sz="285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90245" y="17951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480 w 8355"/>
              <a:gd name="p0y0" fmla="*/ 0 h 2595"/>
              <a:gd name="p0x1" fmla="*/ 7875 w 8355"/>
              <a:gd name="p0y1" fmla="*/ 0 h 2595"/>
              <a:gd name="p0x2" fmla="*/ 8140 w 8355"/>
              <a:gd name="p0y2" fmla="*/ 0 h 2595"/>
              <a:gd name="p0x3" fmla="*/ 8355 w 8355"/>
              <a:gd name="p0y3" fmla="*/ 214 h 2595"/>
              <a:gd name="p0x4" fmla="*/ 8355 w 8355"/>
              <a:gd name="p0y4" fmla="*/ 480 h 2595"/>
              <a:gd name="p0x5" fmla="*/ 8355 w 8355"/>
              <a:gd name="p0y5" fmla="*/ 2115 h 2595"/>
              <a:gd name="p0x6" fmla="*/ 8355 w 8355"/>
              <a:gd name="p0y6" fmla="*/ 2380 h 2595"/>
              <a:gd name="p0x7" fmla="*/ 8140 w 8355"/>
              <a:gd name="p0y7" fmla="*/ 2595 h 2595"/>
              <a:gd name="p0x8" fmla="*/ 7875 w 8355"/>
              <a:gd name="p0y8" fmla="*/ 2595 h 2595"/>
              <a:gd name="p0x9" fmla="*/ 480 w 8355"/>
              <a:gd name="p0y9" fmla="*/ 2595 h 2595"/>
              <a:gd name="p0x10" fmla="*/ 214 w 8355"/>
              <a:gd name="p0y10" fmla="*/ 2595 h 2595"/>
              <a:gd name="p0x11" fmla="*/ 0 w 8355"/>
              <a:gd name="p0y11" fmla="*/ 2380 h 2595"/>
              <a:gd name="p0x12" fmla="*/ 0 w 8355"/>
              <a:gd name="p0y12" fmla="*/ 2115 h 2595"/>
              <a:gd name="p0x13" fmla="*/ 0 w 8355"/>
              <a:gd name="p0y13" fmla="*/ 480 h 2595"/>
              <a:gd name="p0x14" fmla="*/ 0 w 8355"/>
              <a:gd name="p0y14" fmla="*/ 214 h 2595"/>
              <a:gd name="p0x15" fmla="*/ 214 w 8355"/>
              <a:gd name="p0y15" fmla="*/ 0 h 2595"/>
              <a:gd name="p0x16" fmla="*/ 48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2E6EB"/>
            </a:solidFill>
            <a:prstDash val="solid"/>
          </a:ln>
          <a:effectLst>
            <a:outerShdw dist="19050" dir="5399999" algn="ctr" rotWithShape="0">
              <a:srgbClr val="20202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962025" y="26384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62025" y="27641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研究背景与动机</a:t>
            </a:r>
            <a:endParaRPr sz="165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195695" y="17951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480 w 8355"/>
              <a:gd name="p0y0" fmla="*/ 0 h 2595"/>
              <a:gd name="p0x1" fmla="*/ 7875 w 8355"/>
              <a:gd name="p0y1" fmla="*/ 0 h 2595"/>
              <a:gd name="p0x2" fmla="*/ 8140 w 8355"/>
              <a:gd name="p0y2" fmla="*/ 0 h 2595"/>
              <a:gd name="p0x3" fmla="*/ 8355 w 8355"/>
              <a:gd name="p0y3" fmla="*/ 214 h 2595"/>
              <a:gd name="p0x4" fmla="*/ 8355 w 8355"/>
              <a:gd name="p0y4" fmla="*/ 480 h 2595"/>
              <a:gd name="p0x5" fmla="*/ 8355 w 8355"/>
              <a:gd name="p0y5" fmla="*/ 2115 h 2595"/>
              <a:gd name="p0x6" fmla="*/ 8355 w 8355"/>
              <a:gd name="p0y6" fmla="*/ 2380 h 2595"/>
              <a:gd name="p0x7" fmla="*/ 8140 w 8355"/>
              <a:gd name="p0y7" fmla="*/ 2595 h 2595"/>
              <a:gd name="p0x8" fmla="*/ 7875 w 8355"/>
              <a:gd name="p0y8" fmla="*/ 2595 h 2595"/>
              <a:gd name="p0x9" fmla="*/ 480 w 8355"/>
              <a:gd name="p0y9" fmla="*/ 2595 h 2595"/>
              <a:gd name="p0x10" fmla="*/ 214 w 8355"/>
              <a:gd name="p0y10" fmla="*/ 2595 h 2595"/>
              <a:gd name="p0x11" fmla="*/ 0 w 8355"/>
              <a:gd name="p0y11" fmla="*/ 2380 h 2595"/>
              <a:gd name="p0x12" fmla="*/ 0 w 8355"/>
              <a:gd name="p0y12" fmla="*/ 2115 h 2595"/>
              <a:gd name="p0x13" fmla="*/ 0 w 8355"/>
              <a:gd name="p0y13" fmla="*/ 480 h 2595"/>
              <a:gd name="p0x14" fmla="*/ 0 w 8355"/>
              <a:gd name="p0y14" fmla="*/ 214 h 2595"/>
              <a:gd name="p0x15" fmla="*/ 214 w 8355"/>
              <a:gd name="p0y15" fmla="*/ 0 h 2595"/>
              <a:gd name="p0x16" fmla="*/ 48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2E6EB"/>
            </a:solidFill>
            <a:prstDash val="solid"/>
          </a:ln>
          <a:effectLst>
            <a:outerShdw dist="19050" dir="5399999" algn="ctr" rotWithShape="0">
              <a:srgbClr val="20202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467475" y="26384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467475" y="27641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核心组件与简化方法</a:t>
            </a:r>
            <a:endParaRPr sz="165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690245" y="41954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480 w 8355"/>
              <a:gd name="p0y0" fmla="*/ 0 h 2595"/>
              <a:gd name="p0x1" fmla="*/ 7875 w 8355"/>
              <a:gd name="p0y1" fmla="*/ 0 h 2595"/>
              <a:gd name="p0x2" fmla="*/ 8140 w 8355"/>
              <a:gd name="p0y2" fmla="*/ 0 h 2595"/>
              <a:gd name="p0x3" fmla="*/ 8355 w 8355"/>
              <a:gd name="p0y3" fmla="*/ 214 h 2595"/>
              <a:gd name="p0x4" fmla="*/ 8355 w 8355"/>
              <a:gd name="p0y4" fmla="*/ 480 h 2595"/>
              <a:gd name="p0x5" fmla="*/ 8355 w 8355"/>
              <a:gd name="p0y5" fmla="*/ 2115 h 2595"/>
              <a:gd name="p0x6" fmla="*/ 8355 w 8355"/>
              <a:gd name="p0y6" fmla="*/ 2380 h 2595"/>
              <a:gd name="p0x7" fmla="*/ 8140 w 8355"/>
              <a:gd name="p0y7" fmla="*/ 2595 h 2595"/>
              <a:gd name="p0x8" fmla="*/ 7875 w 8355"/>
              <a:gd name="p0y8" fmla="*/ 2595 h 2595"/>
              <a:gd name="p0x9" fmla="*/ 480 w 8355"/>
              <a:gd name="p0y9" fmla="*/ 2595 h 2595"/>
              <a:gd name="p0x10" fmla="*/ 214 w 8355"/>
              <a:gd name="p0y10" fmla="*/ 2595 h 2595"/>
              <a:gd name="p0x11" fmla="*/ 0 w 8355"/>
              <a:gd name="p0y11" fmla="*/ 2380 h 2595"/>
              <a:gd name="p0x12" fmla="*/ 0 w 8355"/>
              <a:gd name="p0y12" fmla="*/ 2115 h 2595"/>
              <a:gd name="p0x13" fmla="*/ 0 w 8355"/>
              <a:gd name="p0y13" fmla="*/ 480 h 2595"/>
              <a:gd name="p0x14" fmla="*/ 0 w 8355"/>
              <a:gd name="p0y14" fmla="*/ 214 h 2595"/>
              <a:gd name="p0x15" fmla="*/ 214 w 8355"/>
              <a:gd name="p0y15" fmla="*/ 0 h 2595"/>
              <a:gd name="p0x16" fmla="*/ 48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2E6EB"/>
            </a:solidFill>
            <a:prstDash val="solid"/>
          </a:ln>
          <a:effectLst>
            <a:outerShdw dist="19050" dir="5399999" algn="ctr" rotWithShape="0">
              <a:srgbClr val="20202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962025" y="50387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962025" y="51644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实验与分析</a:t>
            </a:r>
            <a:endParaRPr sz="165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6195695" y="41954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480 w 8355"/>
              <a:gd name="p0y0" fmla="*/ 0 h 2595"/>
              <a:gd name="p0x1" fmla="*/ 7875 w 8355"/>
              <a:gd name="p0y1" fmla="*/ 0 h 2595"/>
              <a:gd name="p0x2" fmla="*/ 8140 w 8355"/>
              <a:gd name="p0y2" fmla="*/ 0 h 2595"/>
              <a:gd name="p0x3" fmla="*/ 8355 w 8355"/>
              <a:gd name="p0y3" fmla="*/ 214 h 2595"/>
              <a:gd name="p0x4" fmla="*/ 8355 w 8355"/>
              <a:gd name="p0y4" fmla="*/ 480 h 2595"/>
              <a:gd name="p0x5" fmla="*/ 8355 w 8355"/>
              <a:gd name="p0y5" fmla="*/ 2115 h 2595"/>
              <a:gd name="p0x6" fmla="*/ 8355 w 8355"/>
              <a:gd name="p0y6" fmla="*/ 2380 h 2595"/>
              <a:gd name="p0x7" fmla="*/ 8140 w 8355"/>
              <a:gd name="p0y7" fmla="*/ 2595 h 2595"/>
              <a:gd name="p0x8" fmla="*/ 7875 w 8355"/>
              <a:gd name="p0y8" fmla="*/ 2595 h 2595"/>
              <a:gd name="p0x9" fmla="*/ 480 w 8355"/>
              <a:gd name="p0y9" fmla="*/ 2595 h 2595"/>
              <a:gd name="p0x10" fmla="*/ 214 w 8355"/>
              <a:gd name="p0y10" fmla="*/ 2595 h 2595"/>
              <a:gd name="p0x11" fmla="*/ 0 w 8355"/>
              <a:gd name="p0y11" fmla="*/ 2380 h 2595"/>
              <a:gd name="p0x12" fmla="*/ 0 w 8355"/>
              <a:gd name="p0y12" fmla="*/ 2115 h 2595"/>
              <a:gd name="p0x13" fmla="*/ 0 w 8355"/>
              <a:gd name="p0y13" fmla="*/ 480 h 2595"/>
              <a:gd name="p0x14" fmla="*/ 0 w 8355"/>
              <a:gd name="p0y14" fmla="*/ 214 h 2595"/>
              <a:gd name="p0x15" fmla="*/ 214 w 8355"/>
              <a:gd name="p0y15" fmla="*/ 0 h 2595"/>
              <a:gd name="p0x16" fmla="*/ 48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2E6EB"/>
            </a:solidFill>
            <a:prstDash val="solid"/>
          </a:ln>
          <a:effectLst>
            <a:outerShdw dist="19050" dir="5399999" algn="ctr" rotWithShape="0">
              <a:srgbClr val="202020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2"/>
            </p:custDataLst>
          </p:nvPr>
        </p:nvSpPr>
        <p:spPr>
          <a:xfrm>
            <a:off x="6467475" y="50387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3"/>
            </p:custDataLst>
          </p:nvPr>
        </p:nvSpPr>
        <p:spPr>
          <a:xfrm>
            <a:off x="6467475" y="51644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结论与展望</a:t>
            </a:r>
            <a:endParaRPr sz="165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4"/>
            </p:custDataLst>
          </p:nvPr>
        </p:nvSpPr>
        <p:spPr>
          <a:xfrm>
            <a:off x="962025" y="21193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FFC000">
                    <a:alpha val="80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01</a:t>
            </a:r>
            <a:endParaRPr sz="3000" b="1">
              <a:solidFill>
                <a:srgbClr val="FFC000">
                  <a:alpha val="80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6467475" y="21193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FFC000">
                    <a:alpha val="80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02</a:t>
            </a:r>
            <a:endParaRPr sz="3000" b="1">
              <a:solidFill>
                <a:srgbClr val="FFC000">
                  <a:alpha val="80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6"/>
            </p:custDataLst>
          </p:nvPr>
        </p:nvSpPr>
        <p:spPr>
          <a:xfrm>
            <a:off x="962025" y="45196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FFC000">
                    <a:alpha val="80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03</a:t>
            </a:r>
            <a:endParaRPr sz="3000" b="1">
              <a:solidFill>
                <a:srgbClr val="FFC000">
                  <a:alpha val="80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6467475" y="45196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FFC000">
                    <a:alpha val="80000"/>
                  </a:srgbClr>
                </a:solidFill>
                <a:latin typeface="Microsoft YaHei" panose="020B0503020204020204" charset="-122"/>
                <a:ea typeface="Microsoft YaHei" panose="020B0503020204020204" charset="-122"/>
              </a:rPr>
              <a:t>04</a:t>
            </a:r>
            <a:endParaRPr sz="3000" b="1">
              <a:solidFill>
                <a:srgbClr val="FFC000">
                  <a:alpha val="80000"/>
                </a:srgb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研究背景与动机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扩散模型的发展与挑战</a:t>
            </a:r>
            <a:endParaRPr sz="30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762000"/>
          </a:xfrm>
          <a:custGeom>
            <a:avLst/>
            <a:gdLst>
              <a:gd name="sw" fmla="*/ 1 w 17400"/>
              <a:gd name="sh" fmla="*/ 1 h 1200"/>
              <a:gd name="mins" fmla="min sw sh"/>
              <a:gd name="dsw" fmla="+- 0 sw mins"/>
              <a:gd name="dsh" fmla="+- 0 sh mins"/>
              <a:gd name="p0x0" fmla="*/ 330 w 17400"/>
              <a:gd name="p0y0" fmla="*/ 0 h 1200"/>
              <a:gd name="p0x1" fmla="*/ 17070 w 17400"/>
              <a:gd name="p0y1" fmla="*/ 0 h 1200"/>
              <a:gd name="p0x2" fmla="*/ 17252 w 17400"/>
              <a:gd name="p0y2" fmla="*/ 0 h 1200"/>
              <a:gd name="p0x3" fmla="*/ 17400 w 17400"/>
              <a:gd name="p0y3" fmla="*/ 147 h 1200"/>
              <a:gd name="p0x4" fmla="*/ 17400 w 17400"/>
              <a:gd name="p0y4" fmla="*/ 330 h 1200"/>
              <a:gd name="p0x5" fmla="*/ 17400 w 17400"/>
              <a:gd name="p0y5" fmla="*/ 870 h 1200"/>
              <a:gd name="p0x6" fmla="*/ 17400 w 17400"/>
              <a:gd name="p0y6" fmla="*/ 1052 h 1200"/>
              <a:gd name="p0x7" fmla="*/ 17252 w 17400"/>
              <a:gd name="p0y7" fmla="*/ 1200 h 1200"/>
              <a:gd name="p0x8" fmla="*/ 17070 w 17400"/>
              <a:gd name="p0y8" fmla="*/ 1200 h 1200"/>
              <a:gd name="p0x9" fmla="*/ 330 w 17400"/>
              <a:gd name="p0y9" fmla="*/ 1200 h 1200"/>
              <a:gd name="p0x10" fmla="*/ 147 w 17400"/>
              <a:gd name="p0y10" fmla="*/ 1200 h 1200"/>
              <a:gd name="p0x11" fmla="*/ 0 w 17400"/>
              <a:gd name="p0y11" fmla="*/ 1052 h 1200"/>
              <a:gd name="p0x12" fmla="*/ 0 w 17400"/>
              <a:gd name="p0y12" fmla="*/ 870 h 1200"/>
              <a:gd name="p0x13" fmla="*/ 0 w 17400"/>
              <a:gd name="p0y13" fmla="*/ 330 h 1200"/>
              <a:gd name="p0x14" fmla="*/ 0 w 17400"/>
              <a:gd name="p0y14" fmla="*/ 147 h 1200"/>
              <a:gd name="p0x15" fmla="*/ 147 w 17400"/>
              <a:gd name="p0y15" fmla="*/ 0 h 1200"/>
              <a:gd name="p0x16" fmla="*/ 330 w 17400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068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828800" y="1273493"/>
            <a:ext cx="85344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400" b="1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</a:rPr>
              <a:t>性能提升伴随</a:t>
            </a:r>
            <a:r>
              <a:rPr sz="24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实现复杂度、训练成本与理解门槛</a:t>
            </a:r>
            <a:r>
              <a:rPr sz="2400" b="1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</a:rPr>
              <a:t>的急剧增加</a:t>
            </a:r>
            <a:endParaRPr sz="2400" b="1">
              <a:solidFill>
                <a:srgbClr val="FFF8F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061845"/>
            <a:ext cx="3546475" cy="4410075"/>
          </a:xfrm>
          <a:custGeom>
            <a:avLst/>
            <a:gdLst>
              <a:gd name="sw" fmla="*/ 1 w 5585"/>
              <a:gd name="sh" fmla="*/ 1 h 6945"/>
              <a:gd name="mins" fmla="min sw sh"/>
              <a:gd name="dsw" fmla="+- 0 sw mins"/>
              <a:gd name="dsh" fmla="+- 0 sh mins"/>
              <a:gd name="p0x0" fmla="*/ 210 w 5585"/>
              <a:gd name="p0y0" fmla="*/ 0 h 6945"/>
              <a:gd name="p0x1" fmla="*/ 5375 w 5585"/>
              <a:gd name="p0y1" fmla="*/ 0 h 6945"/>
              <a:gd name="p0x2" fmla="*/ 5491 w 5585"/>
              <a:gd name="p0y2" fmla="*/ 0 h 6945"/>
              <a:gd name="p0x3" fmla="*/ 5585 w 5585"/>
              <a:gd name="p0y3" fmla="*/ 94 h 6945"/>
              <a:gd name="p0x4" fmla="*/ 5585 w 5585"/>
              <a:gd name="p0y4" fmla="*/ 210 h 6945"/>
              <a:gd name="p0x5" fmla="*/ 5585 w 5585"/>
              <a:gd name="p0y5" fmla="*/ 6735 h 6945"/>
              <a:gd name="p0x6" fmla="*/ 5585 w 5585"/>
              <a:gd name="p0y6" fmla="*/ 6850 h 6945"/>
              <a:gd name="p0x7" fmla="*/ 5491 w 5585"/>
              <a:gd name="p0y7" fmla="*/ 6945 h 6945"/>
              <a:gd name="p0x8" fmla="*/ 5375 w 5585"/>
              <a:gd name="p0y8" fmla="*/ 6945 h 6945"/>
              <a:gd name="p0x9" fmla="*/ 210 w 5585"/>
              <a:gd name="p0y9" fmla="*/ 6945 h 6945"/>
              <a:gd name="p0x10" fmla="*/ 94 w 5585"/>
              <a:gd name="p0y10" fmla="*/ 6945 h 6945"/>
              <a:gd name="p0x11" fmla="*/ 0 w 5585"/>
              <a:gd name="p0y11" fmla="*/ 6850 h 6945"/>
              <a:gd name="p0x12" fmla="*/ 0 w 5585"/>
              <a:gd name="p0y12" fmla="*/ 6735 h 6945"/>
              <a:gd name="p0x13" fmla="*/ 0 w 5585"/>
              <a:gd name="p0y13" fmla="*/ 210 h 6945"/>
              <a:gd name="p0x14" fmla="*/ 0 w 5585"/>
              <a:gd name="p0y14" fmla="*/ 94 h 6945"/>
              <a:gd name="p0x15" fmla="*/ 94 w 5585"/>
              <a:gd name="p0y15" fmla="*/ 0 h 6945"/>
              <a:gd name="p0x16" fmla="*/ 210 w 5585"/>
              <a:gd name="p0y16" fmla="*/ 0 h 6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139315" y="35452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00" t="-19825" r="-2000" b="-19825"/>
          <a:stretch>
            <a:fillRect/>
          </a:stretch>
        </p:blipFill>
        <p:spPr>
          <a:xfrm>
            <a:off x="2225040" y="3625850"/>
            <a:ext cx="247650" cy="2527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549375" y="4101493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余弦噪声调度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535087" y="4425343"/>
            <a:ext cx="1628851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替代线性调度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噪声添加过程更平滑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4322445" y="2061845"/>
            <a:ext cx="3546475" cy="4410075"/>
          </a:xfrm>
          <a:custGeom>
            <a:avLst/>
            <a:gdLst>
              <a:gd name="sw" fmla="*/ 1 w 5585"/>
              <a:gd name="sh" fmla="*/ 1 h 6945"/>
              <a:gd name="mins" fmla="min sw sh"/>
              <a:gd name="dsw" fmla="+- 0 sw mins"/>
              <a:gd name="dsh" fmla="+- 0 sh mins"/>
              <a:gd name="p0x0" fmla="*/ 210 w 5585"/>
              <a:gd name="p0y0" fmla="*/ 0 h 6945"/>
              <a:gd name="p0x1" fmla="*/ 5375 w 5585"/>
              <a:gd name="p0y1" fmla="*/ 0 h 6945"/>
              <a:gd name="p0x2" fmla="*/ 5491 w 5585"/>
              <a:gd name="p0y2" fmla="*/ 0 h 6945"/>
              <a:gd name="p0x3" fmla="*/ 5585 w 5585"/>
              <a:gd name="p0y3" fmla="*/ 94 h 6945"/>
              <a:gd name="p0x4" fmla="*/ 5585 w 5585"/>
              <a:gd name="p0y4" fmla="*/ 210 h 6945"/>
              <a:gd name="p0x5" fmla="*/ 5585 w 5585"/>
              <a:gd name="p0y5" fmla="*/ 6735 h 6945"/>
              <a:gd name="p0x6" fmla="*/ 5585 w 5585"/>
              <a:gd name="p0y6" fmla="*/ 6850 h 6945"/>
              <a:gd name="p0x7" fmla="*/ 5491 w 5585"/>
              <a:gd name="p0y7" fmla="*/ 6945 h 6945"/>
              <a:gd name="p0x8" fmla="*/ 5375 w 5585"/>
              <a:gd name="p0y8" fmla="*/ 6945 h 6945"/>
              <a:gd name="p0x9" fmla="*/ 210 w 5585"/>
              <a:gd name="p0y9" fmla="*/ 6945 h 6945"/>
              <a:gd name="p0x10" fmla="*/ 94 w 5585"/>
              <a:gd name="p0y10" fmla="*/ 6945 h 6945"/>
              <a:gd name="p0x11" fmla="*/ 0 w 5585"/>
              <a:gd name="p0y11" fmla="*/ 6850 h 6945"/>
              <a:gd name="p0x12" fmla="*/ 0 w 5585"/>
              <a:gd name="p0y12" fmla="*/ 6735 h 6945"/>
              <a:gd name="p0x13" fmla="*/ 0 w 5585"/>
              <a:gd name="p0y13" fmla="*/ 210 h 6945"/>
              <a:gd name="p0x14" fmla="*/ 0 w 5585"/>
              <a:gd name="p0y14" fmla="*/ 94 h 6945"/>
              <a:gd name="p0x15" fmla="*/ 94 w 5585"/>
              <a:gd name="p0y15" fmla="*/ 0 h 6945"/>
              <a:gd name="p0x16" fmla="*/ 210 w 5585"/>
              <a:gd name="p0y16" fmla="*/ 0 h 6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5886450" y="35452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5972175" y="3625850"/>
            <a:ext cx="247650" cy="2527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5410200" y="4101493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可学习方差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5710238" y="4425343"/>
            <a:ext cx="771601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直接优化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变分下界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8068945" y="2061845"/>
            <a:ext cx="3546475" cy="4410075"/>
          </a:xfrm>
          <a:custGeom>
            <a:avLst/>
            <a:gdLst>
              <a:gd name="sw" fmla="*/ 1 w 5585"/>
              <a:gd name="sh" fmla="*/ 1 h 6945"/>
              <a:gd name="mins" fmla="min sw sh"/>
              <a:gd name="dsw" fmla="+- 0 sw mins"/>
              <a:gd name="dsh" fmla="+- 0 sh mins"/>
              <a:gd name="p0x0" fmla="*/ 210 w 5585"/>
              <a:gd name="p0y0" fmla="*/ 0 h 6945"/>
              <a:gd name="p0x1" fmla="*/ 5375 w 5585"/>
              <a:gd name="p0y1" fmla="*/ 0 h 6945"/>
              <a:gd name="p0x2" fmla="*/ 5491 w 5585"/>
              <a:gd name="p0y2" fmla="*/ 0 h 6945"/>
              <a:gd name="p0x3" fmla="*/ 5585 w 5585"/>
              <a:gd name="p0y3" fmla="*/ 94 h 6945"/>
              <a:gd name="p0x4" fmla="*/ 5585 w 5585"/>
              <a:gd name="p0y4" fmla="*/ 210 h 6945"/>
              <a:gd name="p0x5" fmla="*/ 5585 w 5585"/>
              <a:gd name="p0y5" fmla="*/ 6735 h 6945"/>
              <a:gd name="p0x6" fmla="*/ 5585 w 5585"/>
              <a:gd name="p0y6" fmla="*/ 6850 h 6945"/>
              <a:gd name="p0x7" fmla="*/ 5491 w 5585"/>
              <a:gd name="p0y7" fmla="*/ 6945 h 6945"/>
              <a:gd name="p0x8" fmla="*/ 5375 w 5585"/>
              <a:gd name="p0y8" fmla="*/ 6945 h 6945"/>
              <a:gd name="p0x9" fmla="*/ 210 w 5585"/>
              <a:gd name="p0y9" fmla="*/ 6945 h 6945"/>
              <a:gd name="p0x10" fmla="*/ 94 w 5585"/>
              <a:gd name="p0y10" fmla="*/ 6945 h 6945"/>
              <a:gd name="p0x11" fmla="*/ 0 w 5585"/>
              <a:gd name="p0y11" fmla="*/ 6850 h 6945"/>
              <a:gd name="p0x12" fmla="*/ 0 w 5585"/>
              <a:gd name="p0y12" fmla="*/ 6735 h 6945"/>
              <a:gd name="p0x13" fmla="*/ 0 w 5585"/>
              <a:gd name="p0y13" fmla="*/ 210 h 6945"/>
              <a:gd name="p0x14" fmla="*/ 0 w 5585"/>
              <a:gd name="p0y14" fmla="*/ 94 h 6945"/>
              <a:gd name="p0x15" fmla="*/ 94 w 5585"/>
              <a:gd name="p0y15" fmla="*/ 0 h 6945"/>
              <a:gd name="p0x16" fmla="*/ 210 w 5585"/>
              <a:gd name="p0y16" fmla="*/ 0 h 69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9632950" y="35452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9718675" y="3625850"/>
            <a:ext cx="247650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9042426" y="4101493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混合损失函数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9203979" y="4425343"/>
            <a:ext cx="1277169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噪声预测损失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ctr">
              <a:lnSpc>
                <a:spcPct val="133000"/>
              </a:lnSpc>
            </a:pPr>
            <a:r>
              <a:rPr lang="en-US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+ </a:t>
            </a:r>
            <a:r>
              <a:rPr lang="zh-CN" altLang="en-US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变分下界损失</a:t>
            </a:r>
            <a:endParaRPr lang="zh-CN" altLang="en-US"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研究目标与定位</a:t>
            </a:r>
            <a:endParaRPr sz="30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894486" y="1050188"/>
            <a:ext cx="1418558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54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r>
              <a:rPr sz="24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项</a:t>
            </a:r>
            <a:endParaRPr sz="2400" b="1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917927" y="1884531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简化对象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2609215" y="2150745"/>
            <a:ext cx="1302385" cy="252730"/>
          </a:xfrm>
          <a:custGeom>
            <a:avLst/>
            <a:gdLst>
              <a:gd name="sw" fmla="*/ 1 w 2051"/>
              <a:gd name="sh" fmla="*/ 1 h 397"/>
              <a:gd name="mins" fmla="min sw sh"/>
              <a:gd name="dsw" fmla="+- 0 sw mins"/>
              <a:gd name="dsh" fmla="+- 0 sh mins"/>
              <a:gd name="p0x0" fmla="*/ 198 w 2051"/>
              <a:gd name="p0y0" fmla="*/ 0 h 397"/>
              <a:gd name="p0x1" fmla="*/ 1852 w 2051"/>
              <a:gd name="p0y1" fmla="*/ 0 h 397"/>
              <a:gd name="p0x2" fmla="*/ 1962 w 2051"/>
              <a:gd name="p0y2" fmla="*/ 0 h 397"/>
              <a:gd name="p0x3" fmla="*/ 2051 w 2051"/>
              <a:gd name="p0y3" fmla="*/ 88 h 397"/>
              <a:gd name="p0x4" fmla="*/ 2051 w 2051"/>
              <a:gd name="p0y4" fmla="*/ 198 h 397"/>
              <a:gd name="p0x5" fmla="*/ 2051 w 2051"/>
              <a:gd name="p0y5" fmla="*/ 308 h 397"/>
              <a:gd name="p0x6" fmla="*/ 1962 w 2051"/>
              <a:gd name="p0y6" fmla="*/ 397 h 397"/>
              <a:gd name="p0x7" fmla="*/ 1852 w 2051"/>
              <a:gd name="p0y7" fmla="*/ 397 h 397"/>
              <a:gd name="p0x8" fmla="*/ 198 w 2051"/>
              <a:gd name="p0y8" fmla="*/ 397 h 397"/>
              <a:gd name="p0x9" fmla="*/ 88 w 2051"/>
              <a:gd name="p0y9" fmla="*/ 397 h 397"/>
              <a:gd name="p0x10" fmla="*/ 0 w 2051"/>
              <a:gd name="p0y10" fmla="*/ 308 h 397"/>
              <a:gd name="p0x11" fmla="*/ 0 w 2051"/>
              <a:gd name="p0y11" fmla="*/ 198 h 397"/>
              <a:gd name="p0x12" fmla="*/ 0 w 2051"/>
              <a:gd name="p0y12" fmla="*/ 88 h 397"/>
              <a:gd name="p0x13" fmla="*/ 88 w 2051"/>
              <a:gd name="p0y13" fmla="*/ 0 h 397"/>
              <a:gd name="p0x14" fmla="*/ 198 w 2051"/>
              <a:gd name="p0y14" fmla="*/ 0 h 3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685831" y="2189331"/>
            <a:ext cx="1283417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噪声调度</a:t>
            </a:r>
            <a:r>
              <a:rPr lang="en-US" altLang="zh-CN" sz="10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+</a:t>
            </a:r>
            <a:r>
              <a:rPr lang="zh-CN" altLang="en-US" sz="10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训练目标</a:t>
            </a:r>
            <a:endParaRPr lang="zh-CN" altLang="en-US" sz="105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6140450" y="1518920"/>
            <a:ext cx="9525" cy="45720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8614248" y="1050188"/>
            <a:ext cx="1418558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54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r>
              <a:rPr sz="24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个</a:t>
            </a:r>
            <a:endParaRPr sz="2400" b="1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8637689" y="1884531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基准模型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8378825" y="2150745"/>
            <a:ext cx="1203325" cy="252730"/>
          </a:xfrm>
          <a:custGeom>
            <a:avLst/>
            <a:gdLst>
              <a:gd name="sw" fmla="*/ 1 w 1895"/>
              <a:gd name="sh" fmla="*/ 1 h 397"/>
              <a:gd name="mins" fmla="min sw sh"/>
              <a:gd name="dsw" fmla="+- 0 sw mins"/>
              <a:gd name="dsh" fmla="+- 0 sh mins"/>
              <a:gd name="p0x0" fmla="*/ 198 w 1895"/>
              <a:gd name="p0y0" fmla="*/ 0 h 397"/>
              <a:gd name="p0x1" fmla="*/ 1696 w 1895"/>
              <a:gd name="p0y1" fmla="*/ 0 h 397"/>
              <a:gd name="p0x2" fmla="*/ 1806 w 1895"/>
              <a:gd name="p0y2" fmla="*/ 0 h 397"/>
              <a:gd name="p0x3" fmla="*/ 1895 w 1895"/>
              <a:gd name="p0y3" fmla="*/ 88 h 397"/>
              <a:gd name="p0x4" fmla="*/ 1895 w 1895"/>
              <a:gd name="p0y4" fmla="*/ 198 h 397"/>
              <a:gd name="p0x5" fmla="*/ 1895 w 1895"/>
              <a:gd name="p0y5" fmla="*/ 308 h 397"/>
              <a:gd name="p0x6" fmla="*/ 1806 w 1895"/>
              <a:gd name="p0y6" fmla="*/ 397 h 397"/>
              <a:gd name="p0x7" fmla="*/ 1696 w 1895"/>
              <a:gd name="p0y7" fmla="*/ 397 h 397"/>
              <a:gd name="p0x8" fmla="*/ 198 w 1895"/>
              <a:gd name="p0y8" fmla="*/ 397 h 397"/>
              <a:gd name="p0x9" fmla="*/ 88 w 1895"/>
              <a:gd name="p0y9" fmla="*/ 397 h 397"/>
              <a:gd name="p0x10" fmla="*/ 0 w 1895"/>
              <a:gd name="p0y10" fmla="*/ 308 h 397"/>
              <a:gd name="p0x11" fmla="*/ 0 w 1895"/>
              <a:gd name="p0y11" fmla="*/ 198 h 397"/>
              <a:gd name="p0x12" fmla="*/ 0 w 1895"/>
              <a:gd name="p0y12" fmla="*/ 88 h 397"/>
              <a:gd name="p0x13" fmla="*/ 88 w 1895"/>
              <a:gd name="p0y13" fmla="*/ 0 h 397"/>
              <a:gd name="p0x14" fmla="*/ 198 w 1895"/>
              <a:gd name="p0y14" fmla="*/ 0 h 3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8455076" y="2189331"/>
            <a:ext cx="118445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Improved DDPM</a:t>
            </a:r>
            <a:endParaRPr sz="105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575945" y="2623820"/>
            <a:ext cx="11039475" cy="1149350"/>
          </a:xfrm>
          <a:custGeom>
            <a:avLst/>
            <a:gdLst>
              <a:gd name="sw" fmla="*/ 1 w 17385"/>
              <a:gd name="sh" fmla="*/ 1 h 1809"/>
              <a:gd name="mins" fmla="min sw sh"/>
              <a:gd name="dsw" fmla="+- 0 sw mins"/>
              <a:gd name="dsh" fmla="+- 0 sh mins"/>
              <a:gd name="p0x0" fmla="*/ 210 w 17385"/>
              <a:gd name="p0y0" fmla="*/ 0 h 1809"/>
              <a:gd name="p0x1" fmla="*/ 17175 w 17385"/>
              <a:gd name="p0y1" fmla="*/ 0 h 1809"/>
              <a:gd name="p0x2" fmla="*/ 17290 w 17385"/>
              <a:gd name="p0y2" fmla="*/ 0 h 1809"/>
              <a:gd name="p0x3" fmla="*/ 17385 w 17385"/>
              <a:gd name="p0y3" fmla="*/ 94 h 1809"/>
              <a:gd name="p0x4" fmla="*/ 17385 w 17385"/>
              <a:gd name="p0y4" fmla="*/ 210 h 1809"/>
              <a:gd name="p0x5" fmla="*/ 17385 w 17385"/>
              <a:gd name="p0y5" fmla="*/ 1599 h 1809"/>
              <a:gd name="p0x6" fmla="*/ 17385 w 17385"/>
              <a:gd name="p0y6" fmla="*/ 1715 h 1809"/>
              <a:gd name="p0x7" fmla="*/ 17290 w 17385"/>
              <a:gd name="p0y7" fmla="*/ 1809 h 1809"/>
              <a:gd name="p0x8" fmla="*/ 17175 w 17385"/>
              <a:gd name="p0y8" fmla="*/ 1809 h 1809"/>
              <a:gd name="p0x9" fmla="*/ 210 w 17385"/>
              <a:gd name="p0y9" fmla="*/ 1809 h 1809"/>
              <a:gd name="p0x10" fmla="*/ 94 w 17385"/>
              <a:gd name="p0y10" fmla="*/ 1809 h 1809"/>
              <a:gd name="p0x11" fmla="*/ 0 w 17385"/>
              <a:gd name="p0y11" fmla="*/ 1715 h 1809"/>
              <a:gd name="p0x12" fmla="*/ 0 w 17385"/>
              <a:gd name="p0y12" fmla="*/ 1599 h 1809"/>
              <a:gd name="p0x13" fmla="*/ 0 w 17385"/>
              <a:gd name="p0y13" fmla="*/ 210 h 1809"/>
              <a:gd name="p0x14" fmla="*/ 0 w 17385"/>
              <a:gd name="p0y14" fmla="*/ 94 h 1809"/>
              <a:gd name="p0x15" fmla="*/ 94 w 17385"/>
              <a:gd name="p0y15" fmla="*/ 0 h 1809"/>
              <a:gd name="p0x16" fmla="*/ 210 w 17385"/>
              <a:gd name="p0y16" fmla="*/ 0 h 180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771525" y="29889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871220" y="3069590"/>
            <a:ext cx="219075" cy="2527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343025" y="2716873"/>
            <a:ext cx="100774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控制变量实验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1343025" y="3041675"/>
            <a:ext cx="100774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以</a:t>
            </a:r>
            <a:r>
              <a:rPr lang="en-US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Improved DDPM</a:t>
            </a: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为基准框架，通过严格的控制变量实验，系统性地实证评估各组件简化对生成质量与推理效率的具体影响，确保结论的科学性与可复现性。</a:t>
            </a:r>
            <a:endParaRPr lang="zh-CN" altLang="en-US"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8"/>
            </p:custDataLst>
          </p:nvPr>
        </p:nvSpPr>
        <p:spPr>
          <a:xfrm>
            <a:off x="575945" y="3973195"/>
            <a:ext cx="11039475" cy="1149350"/>
          </a:xfrm>
          <a:custGeom>
            <a:avLst/>
            <a:gdLst>
              <a:gd name="sw" fmla="*/ 1 w 17385"/>
              <a:gd name="sh" fmla="*/ 1 h 1809"/>
              <a:gd name="mins" fmla="min sw sh"/>
              <a:gd name="dsw" fmla="+- 0 sw mins"/>
              <a:gd name="dsh" fmla="+- 0 sh mins"/>
              <a:gd name="p0x0" fmla="*/ 210 w 17385"/>
              <a:gd name="p0y0" fmla="*/ 0 h 1809"/>
              <a:gd name="p0x1" fmla="*/ 17175 w 17385"/>
              <a:gd name="p0y1" fmla="*/ 0 h 1809"/>
              <a:gd name="p0x2" fmla="*/ 17290 w 17385"/>
              <a:gd name="p0y2" fmla="*/ 0 h 1809"/>
              <a:gd name="p0x3" fmla="*/ 17385 w 17385"/>
              <a:gd name="p0y3" fmla="*/ 94 h 1809"/>
              <a:gd name="p0x4" fmla="*/ 17385 w 17385"/>
              <a:gd name="p0y4" fmla="*/ 210 h 1809"/>
              <a:gd name="p0x5" fmla="*/ 17385 w 17385"/>
              <a:gd name="p0y5" fmla="*/ 1599 h 1809"/>
              <a:gd name="p0x6" fmla="*/ 17385 w 17385"/>
              <a:gd name="p0y6" fmla="*/ 1715 h 1809"/>
              <a:gd name="p0x7" fmla="*/ 17290 w 17385"/>
              <a:gd name="p0y7" fmla="*/ 1809 h 1809"/>
              <a:gd name="p0x8" fmla="*/ 17175 w 17385"/>
              <a:gd name="p0y8" fmla="*/ 1809 h 1809"/>
              <a:gd name="p0x9" fmla="*/ 210 w 17385"/>
              <a:gd name="p0y9" fmla="*/ 1809 h 1809"/>
              <a:gd name="p0x10" fmla="*/ 94 w 17385"/>
              <a:gd name="p0y10" fmla="*/ 1809 h 1809"/>
              <a:gd name="p0x11" fmla="*/ 0 w 17385"/>
              <a:gd name="p0y11" fmla="*/ 1715 h 1809"/>
              <a:gd name="p0x12" fmla="*/ 0 w 17385"/>
              <a:gd name="p0y12" fmla="*/ 1599 h 1809"/>
              <a:gd name="p0x13" fmla="*/ 0 w 17385"/>
              <a:gd name="p0y13" fmla="*/ 210 h 1809"/>
              <a:gd name="p0x14" fmla="*/ 0 w 17385"/>
              <a:gd name="p0y14" fmla="*/ 94 h 1809"/>
              <a:gd name="p0x15" fmla="*/ 94 w 17385"/>
              <a:gd name="p0y15" fmla="*/ 0 h 1809"/>
              <a:gd name="p0x16" fmla="*/ 210 w 17385"/>
              <a:gd name="p0y16" fmla="*/ 0 h 180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771525" y="43383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366" t="-3067" r="-2366" b="-3067"/>
          <a:stretch>
            <a:fillRect/>
          </a:stretch>
        </p:blipFill>
        <p:spPr>
          <a:xfrm>
            <a:off x="826135" y="4418965"/>
            <a:ext cx="309245" cy="25273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1343025" y="4066222"/>
            <a:ext cx="100774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性能折衷量化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1343025" y="4391025"/>
            <a:ext cx="100774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不追求生成质量的极限突破，而是聚焦于量化性能折衷程度与效率收益之间的权衡关系，为实际部署场景提供可量化的决策依据。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575945" y="5322570"/>
            <a:ext cx="11039475" cy="1149350"/>
          </a:xfrm>
          <a:custGeom>
            <a:avLst/>
            <a:gdLst>
              <a:gd name="sw" fmla="*/ 1 w 17385"/>
              <a:gd name="sh" fmla="*/ 1 h 1809"/>
              <a:gd name="mins" fmla="min sw sh"/>
              <a:gd name="dsw" fmla="+- 0 sw mins"/>
              <a:gd name="dsh" fmla="+- 0 sh mins"/>
              <a:gd name="p0x0" fmla="*/ 210 w 17385"/>
              <a:gd name="p0y0" fmla="*/ 0 h 1809"/>
              <a:gd name="p0x1" fmla="*/ 17175 w 17385"/>
              <a:gd name="p0y1" fmla="*/ 0 h 1809"/>
              <a:gd name="p0x2" fmla="*/ 17290 w 17385"/>
              <a:gd name="p0y2" fmla="*/ 0 h 1809"/>
              <a:gd name="p0x3" fmla="*/ 17385 w 17385"/>
              <a:gd name="p0y3" fmla="*/ 94 h 1809"/>
              <a:gd name="p0x4" fmla="*/ 17385 w 17385"/>
              <a:gd name="p0y4" fmla="*/ 210 h 1809"/>
              <a:gd name="p0x5" fmla="*/ 17385 w 17385"/>
              <a:gd name="p0y5" fmla="*/ 1599 h 1809"/>
              <a:gd name="p0x6" fmla="*/ 17385 w 17385"/>
              <a:gd name="p0y6" fmla="*/ 1715 h 1809"/>
              <a:gd name="p0x7" fmla="*/ 17290 w 17385"/>
              <a:gd name="p0y7" fmla="*/ 1809 h 1809"/>
              <a:gd name="p0x8" fmla="*/ 17175 w 17385"/>
              <a:gd name="p0y8" fmla="*/ 1809 h 1809"/>
              <a:gd name="p0x9" fmla="*/ 210 w 17385"/>
              <a:gd name="p0y9" fmla="*/ 1809 h 1809"/>
              <a:gd name="p0x10" fmla="*/ 94 w 17385"/>
              <a:gd name="p0y10" fmla="*/ 1809 h 1809"/>
              <a:gd name="p0x11" fmla="*/ 0 w 17385"/>
              <a:gd name="p0y11" fmla="*/ 1715 h 1809"/>
              <a:gd name="p0x12" fmla="*/ 0 w 17385"/>
              <a:gd name="p0y12" fmla="*/ 1599 h 1809"/>
              <a:gd name="p0x13" fmla="*/ 0 w 17385"/>
              <a:gd name="p0y13" fmla="*/ 210 h 1809"/>
              <a:gd name="p0x14" fmla="*/ 0 w 17385"/>
              <a:gd name="p0y14" fmla="*/ 94 h 1809"/>
              <a:gd name="p0x15" fmla="*/ 94 w 17385"/>
              <a:gd name="p0y15" fmla="*/ 0 h 1809"/>
              <a:gd name="p0x16" fmla="*/ 210 w 17385"/>
              <a:gd name="p0y16" fmla="*/ 0 h 180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6"/>
            </p:custDataLst>
          </p:nvPr>
        </p:nvSpPr>
        <p:spPr>
          <a:xfrm>
            <a:off x="771525" y="568769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5768340"/>
            <a:ext cx="247650" cy="25273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1343025" y="5415572"/>
            <a:ext cx="100774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决策参考价值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1343025" y="5740374"/>
            <a:ext cx="100774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为关注模型可理解性、可部署性及开发效率的研究者与教育工作者提供实用的决策参考，降低扩散模型技术门槛，促进技术普及与教学应用。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核心组件与简化方法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扩散模型数学框架</a:t>
            </a:r>
            <a:endParaRPr sz="30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934970" y="1105535"/>
            <a:ext cx="6701790" cy="5746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95" b="1" spc="6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q(x</a:t>
            </a:r>
            <a:r>
              <a:rPr sz="3965" b="1" spc="61" baseline="-2500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3095" b="1" spc="6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| x</a:t>
            </a:r>
            <a:r>
              <a:rPr sz="3965" b="1" spc="61" baseline="-2500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0</a:t>
            </a:r>
            <a:r>
              <a:rPr sz="3095" b="1" spc="6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) =</a:t>
            </a:r>
            <a:r>
              <a:rPr sz="3095" b="1" spc="6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𝒩</a:t>
            </a:r>
            <a:r>
              <a:rPr sz="3095" b="1" spc="6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(x</a:t>
            </a:r>
            <a:r>
              <a:rPr sz="3965" b="1" spc="61" baseline="-2500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3095" b="1" spc="6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; √</a:t>
            </a:r>
            <a:r>
              <a:rPr sz="3095" b="1" spc="6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ᾱ</a:t>
            </a:r>
            <a:r>
              <a:rPr sz="3965" b="1" spc="61" baseline="-2500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3095" b="1" spc="6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x</a:t>
            </a:r>
            <a:r>
              <a:rPr sz="3965" b="1" spc="61" baseline="-2500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0</a:t>
            </a:r>
            <a:r>
              <a:rPr sz="3095" b="1" spc="6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, (1-</a:t>
            </a:r>
            <a:r>
              <a:rPr sz="3095" b="1" spc="6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ᾱ</a:t>
            </a:r>
            <a:r>
              <a:rPr sz="3965" b="1" spc="61" baseline="-2500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3095" b="1" spc="6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)I)</a:t>
            </a:r>
            <a:endParaRPr sz="3095" b="1" spc="6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521710" y="1697990"/>
            <a:ext cx="2219325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65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ᾱ</a:t>
            </a:r>
            <a:r>
              <a:rPr sz="1620" b="1" baseline="-2500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1265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= ∏</a:t>
            </a:r>
            <a:r>
              <a:rPr sz="1620" baseline="-250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s=1</a:t>
            </a:r>
            <a:r>
              <a:rPr sz="1685" baseline="300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1265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(1-β</a:t>
            </a:r>
            <a:r>
              <a:rPr sz="1620" baseline="-250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s</a:t>
            </a:r>
            <a:r>
              <a:rPr lang="en-US" sz="1265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 </a:t>
            </a:r>
            <a:r>
              <a:rPr lang="zh-CN" altLang="en-US" sz="1265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累积乘积</a:t>
            </a:r>
            <a:endParaRPr lang="zh-CN" altLang="en-US" sz="1265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5598160" y="1697990"/>
            <a:ext cx="200025" cy="2139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65">
                <a:solidFill>
                  <a:srgbClr val="EDEEF2"/>
                </a:solidFill>
                <a:latin typeface="Microsoft YaHei" panose="020B0503020204020204" charset="-122"/>
                <a:ea typeface="Microsoft YaHei" panose="020B0503020204020204" charset="-122"/>
              </a:rPr>
              <a:t>|</a:t>
            </a:r>
            <a:endParaRPr sz="1265">
              <a:solidFill>
                <a:srgbClr val="EDEEF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815965" y="1697990"/>
            <a:ext cx="1565275" cy="241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65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β</a:t>
            </a:r>
            <a:r>
              <a:rPr sz="1620" b="1" baseline="-2500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sz="1265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∈ (0,1) </a:t>
            </a:r>
            <a:r>
              <a:rPr lang="zh-CN" altLang="en-US" sz="1265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噪声调度</a:t>
            </a:r>
            <a:endParaRPr lang="zh-CN" altLang="en-US" sz="1265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399020" y="1697990"/>
            <a:ext cx="200025" cy="2139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65">
                <a:solidFill>
                  <a:srgbClr val="EDEEF2"/>
                </a:solidFill>
                <a:latin typeface="Microsoft YaHei" panose="020B0503020204020204" charset="-122"/>
                <a:ea typeface="Microsoft YaHei" panose="020B0503020204020204" charset="-122"/>
              </a:rPr>
              <a:t>|</a:t>
            </a:r>
            <a:endParaRPr sz="1265">
              <a:solidFill>
                <a:srgbClr val="EDEEF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7616825" y="1697990"/>
            <a:ext cx="1057275" cy="2139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65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1265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总扩散步数</a:t>
            </a:r>
            <a:endParaRPr sz="1265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575945" y="2223135"/>
            <a:ext cx="5715000" cy="2024380"/>
          </a:xfrm>
          <a:custGeom>
            <a:avLst/>
            <a:gdLst>
              <a:gd name="sw" fmla="*/ 1 w 9000"/>
              <a:gd name="sh" fmla="*/ 1 h 3188"/>
              <a:gd name="mins" fmla="min sw sh"/>
              <a:gd name="dsw" fmla="+- 0 sw mins"/>
              <a:gd name="dsh" fmla="+- 0 sh mins"/>
              <a:gd name="p0x0" fmla="*/ 210 w 9000"/>
              <a:gd name="p0y0" fmla="*/ 0 h 3188"/>
              <a:gd name="p0x1" fmla="*/ 8790 w 9000"/>
              <a:gd name="p0y1" fmla="*/ 0 h 3188"/>
              <a:gd name="p0x2" fmla="*/ 8905 w 9000"/>
              <a:gd name="p0y2" fmla="*/ 0 h 3188"/>
              <a:gd name="p0x3" fmla="*/ 9000 w 9000"/>
              <a:gd name="p0y3" fmla="*/ 94 h 3188"/>
              <a:gd name="p0x4" fmla="*/ 9000 w 9000"/>
              <a:gd name="p0y4" fmla="*/ 210 h 3188"/>
              <a:gd name="p0x5" fmla="*/ 9000 w 9000"/>
              <a:gd name="p0y5" fmla="*/ 2978 h 3188"/>
              <a:gd name="p0x6" fmla="*/ 9000 w 9000"/>
              <a:gd name="p0y6" fmla="*/ 3094 h 3188"/>
              <a:gd name="p0x7" fmla="*/ 8905 w 9000"/>
              <a:gd name="p0y7" fmla="*/ 3188 h 3188"/>
              <a:gd name="p0x8" fmla="*/ 8790 w 9000"/>
              <a:gd name="p0y8" fmla="*/ 3188 h 3188"/>
              <a:gd name="p0x9" fmla="*/ 210 w 9000"/>
              <a:gd name="p0y9" fmla="*/ 3188 h 3188"/>
              <a:gd name="p0x10" fmla="*/ 94 w 9000"/>
              <a:gd name="p0y10" fmla="*/ 3188 h 3188"/>
              <a:gd name="p0x11" fmla="*/ 0 w 9000"/>
              <a:gd name="p0y11" fmla="*/ 3094 h 3188"/>
              <a:gd name="p0x12" fmla="*/ 0 w 9000"/>
              <a:gd name="p0y12" fmla="*/ 2978 h 3188"/>
              <a:gd name="p0x13" fmla="*/ 0 w 9000"/>
              <a:gd name="p0y13" fmla="*/ 210 h 3188"/>
              <a:gd name="p0x14" fmla="*/ 0 w 9000"/>
              <a:gd name="p0y14" fmla="*/ 94 h 3188"/>
              <a:gd name="p0x15" fmla="*/ 94 w 9000"/>
              <a:gd name="p0y15" fmla="*/ 0 h 3188"/>
              <a:gd name="p0x16" fmla="*/ 210 w 9000"/>
              <a:gd name="p0y16" fmla="*/ 0 h 318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9"/>
            </p:custDataLst>
          </p:nvPr>
        </p:nvSpPr>
        <p:spPr>
          <a:xfrm>
            <a:off x="771525" y="24352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738" t="-38222" r="-2738" b="-38222"/>
          <a:stretch>
            <a:fillRect/>
          </a:stretch>
        </p:blipFill>
        <p:spPr>
          <a:xfrm>
            <a:off x="840105" y="2516505"/>
            <a:ext cx="281305" cy="2520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1304925" y="2462317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前向过程</a:t>
            </a:r>
            <a:endParaRPr sz="21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771525" y="2992860"/>
            <a:ext cx="5324475" cy="3508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单步转移：</a:t>
            </a:r>
            <a:r>
              <a:rPr lang="en-US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q(x</a:t>
            </a:r>
            <a:r>
              <a:rPr sz="1920" baseline="-250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|x</a:t>
            </a:r>
            <a:r>
              <a:rPr sz="1920" baseline="-250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t-1</a:t>
            </a:r>
            <a:r>
              <a:rPr 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 </a:t>
            </a: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加入高斯噪声</a:t>
            </a:r>
            <a:endParaRPr lang="zh-CN" altLang="en-US"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771525" y="3342008"/>
            <a:ext cx="2422855" cy="3508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均值缩放：</a:t>
            </a:r>
            <a:r>
              <a:rPr sz="15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√(1-β</a:t>
            </a:r>
            <a:r>
              <a:rPr sz="1920" b="1" baseline="-2500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15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)</a:t>
            </a: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· x</a:t>
            </a:r>
            <a:r>
              <a:rPr sz="1920" baseline="-250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t-1</a:t>
            </a:r>
            <a:endParaRPr sz="1920" baseline="-250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771525" y="3691166"/>
            <a:ext cx="5324475" cy="3508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方差控制：</a:t>
            </a:r>
            <a:r>
              <a:rPr sz="15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β</a:t>
            </a:r>
            <a:r>
              <a:rPr sz="1920" b="1" baseline="-2500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15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I</a:t>
            </a: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各向同性噪声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7"/>
            </p:custDataLst>
          </p:nvPr>
        </p:nvSpPr>
        <p:spPr>
          <a:xfrm>
            <a:off x="575945" y="4447540"/>
            <a:ext cx="5715000" cy="2024380"/>
          </a:xfrm>
          <a:custGeom>
            <a:avLst/>
            <a:gdLst>
              <a:gd name="sw" fmla="*/ 1 w 9000"/>
              <a:gd name="sh" fmla="*/ 1 h 3188"/>
              <a:gd name="mins" fmla="min sw sh"/>
              <a:gd name="dsw" fmla="+- 0 sw mins"/>
              <a:gd name="dsh" fmla="+- 0 sh mins"/>
              <a:gd name="p0x0" fmla="*/ 210 w 9000"/>
              <a:gd name="p0y0" fmla="*/ 0 h 3188"/>
              <a:gd name="p0x1" fmla="*/ 8790 w 9000"/>
              <a:gd name="p0y1" fmla="*/ 0 h 3188"/>
              <a:gd name="p0x2" fmla="*/ 8905 w 9000"/>
              <a:gd name="p0y2" fmla="*/ 0 h 3188"/>
              <a:gd name="p0x3" fmla="*/ 9000 w 9000"/>
              <a:gd name="p0y3" fmla="*/ 94 h 3188"/>
              <a:gd name="p0x4" fmla="*/ 9000 w 9000"/>
              <a:gd name="p0y4" fmla="*/ 210 h 3188"/>
              <a:gd name="p0x5" fmla="*/ 9000 w 9000"/>
              <a:gd name="p0y5" fmla="*/ 2978 h 3188"/>
              <a:gd name="p0x6" fmla="*/ 9000 w 9000"/>
              <a:gd name="p0y6" fmla="*/ 3094 h 3188"/>
              <a:gd name="p0x7" fmla="*/ 8905 w 9000"/>
              <a:gd name="p0y7" fmla="*/ 3188 h 3188"/>
              <a:gd name="p0x8" fmla="*/ 8790 w 9000"/>
              <a:gd name="p0y8" fmla="*/ 3188 h 3188"/>
              <a:gd name="p0x9" fmla="*/ 210 w 9000"/>
              <a:gd name="p0y9" fmla="*/ 3188 h 3188"/>
              <a:gd name="p0x10" fmla="*/ 94 w 9000"/>
              <a:gd name="p0y10" fmla="*/ 3188 h 3188"/>
              <a:gd name="p0x11" fmla="*/ 0 w 9000"/>
              <a:gd name="p0y11" fmla="*/ 3094 h 3188"/>
              <a:gd name="p0x12" fmla="*/ 0 w 9000"/>
              <a:gd name="p0y12" fmla="*/ 2978 h 3188"/>
              <a:gd name="p0x13" fmla="*/ 0 w 9000"/>
              <a:gd name="p0y13" fmla="*/ 210 h 3188"/>
              <a:gd name="p0x14" fmla="*/ 0 w 9000"/>
              <a:gd name="p0y14" fmla="*/ 94 h 3188"/>
              <a:gd name="p0x15" fmla="*/ 94 w 9000"/>
              <a:gd name="p0y15" fmla="*/ 0 h 3188"/>
              <a:gd name="p0x16" fmla="*/ 210 w 9000"/>
              <a:gd name="p0y16" fmla="*/ 0 h 318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771525" y="50088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273" t="-897" r="-2273" b="-897"/>
          <a:stretch>
            <a:fillRect/>
          </a:stretch>
        </p:blipFill>
        <p:spPr>
          <a:xfrm>
            <a:off x="871220" y="5090160"/>
            <a:ext cx="219075" cy="25209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1304925" y="5035934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闭式采样优势</a:t>
            </a:r>
            <a:endParaRPr sz="21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771525" y="5566477"/>
            <a:ext cx="5324475" cy="3508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跳过迭代：直接从</a:t>
            </a:r>
            <a:r>
              <a:rPr lang="en-US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x</a:t>
            </a:r>
            <a:r>
              <a:rPr sz="1920" baseline="-250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0</a:t>
            </a:r>
            <a:r>
              <a:rPr 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采样任意</a:t>
            </a:r>
            <a:r>
              <a:rPr lang="en-US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x</a:t>
            </a:r>
            <a:r>
              <a:rPr sz="1920" baseline="-250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，训练效率提升</a:t>
            </a:r>
            <a:r>
              <a:rPr sz="15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倍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4"/>
            </p:custDataLst>
          </p:nvPr>
        </p:nvSpPr>
        <p:spPr>
          <a:xfrm>
            <a:off x="6436360" y="2223135"/>
            <a:ext cx="5179695" cy="2359025"/>
          </a:xfrm>
          <a:custGeom>
            <a:avLst/>
            <a:gdLst>
              <a:gd name="sw" fmla="*/ 1 w 8521"/>
              <a:gd name="sh" fmla="*/ 1 h 3881"/>
              <a:gd name="mins" fmla="min sw sh"/>
              <a:gd name="dsw" fmla="+- 0 sw mins"/>
              <a:gd name="dsh" fmla="+- 0 sh mins"/>
              <a:gd name="p0x0" fmla="*/ 210 w 8521"/>
              <a:gd name="p0y0" fmla="*/ 0 h 3881"/>
              <a:gd name="p0x1" fmla="*/ 8311 w 8521"/>
              <a:gd name="p0y1" fmla="*/ 0 h 3881"/>
              <a:gd name="p0x2" fmla="*/ 8427 w 8521"/>
              <a:gd name="p0y2" fmla="*/ 0 h 3881"/>
              <a:gd name="p0x3" fmla="*/ 8521 w 8521"/>
              <a:gd name="p0y3" fmla="*/ 94 h 3881"/>
              <a:gd name="p0x4" fmla="*/ 8521 w 8521"/>
              <a:gd name="p0y4" fmla="*/ 210 h 3881"/>
              <a:gd name="p0x5" fmla="*/ 8521 w 8521"/>
              <a:gd name="p0y5" fmla="*/ 3671 h 3881"/>
              <a:gd name="p0x6" fmla="*/ 8521 w 8521"/>
              <a:gd name="p0y6" fmla="*/ 3787 h 3881"/>
              <a:gd name="p0x7" fmla="*/ 8427 w 8521"/>
              <a:gd name="p0y7" fmla="*/ 3881 h 3881"/>
              <a:gd name="p0x8" fmla="*/ 8311 w 8521"/>
              <a:gd name="p0y8" fmla="*/ 3881 h 3881"/>
              <a:gd name="p0x9" fmla="*/ 210 w 8521"/>
              <a:gd name="p0y9" fmla="*/ 3881 h 3881"/>
              <a:gd name="p0x10" fmla="*/ 94 w 8521"/>
              <a:gd name="p0y10" fmla="*/ 3881 h 3881"/>
              <a:gd name="p0x11" fmla="*/ 0 w 8521"/>
              <a:gd name="p0y11" fmla="*/ 3787 h 3881"/>
              <a:gd name="p0x12" fmla="*/ 0 w 8521"/>
              <a:gd name="p0y12" fmla="*/ 3671 h 3881"/>
              <a:gd name="p0x13" fmla="*/ 0 w 8521"/>
              <a:gd name="p0y13" fmla="*/ 210 h 3881"/>
              <a:gd name="p0x14" fmla="*/ 0 w 8521"/>
              <a:gd name="p0y14" fmla="*/ 94 h 3881"/>
              <a:gd name="p0x15" fmla="*/ 94 w 8521"/>
              <a:gd name="p0y15" fmla="*/ 0 h 3881"/>
              <a:gd name="p0x16" fmla="*/ 210 w 8521"/>
              <a:gd name="p0y16" fmla="*/ 0 h 388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117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5"/>
            </p:custDataLst>
          </p:nvPr>
        </p:nvSpPr>
        <p:spPr>
          <a:xfrm>
            <a:off x="6623050" y="2479040"/>
            <a:ext cx="400685" cy="40068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6704965" y="2555875"/>
            <a:ext cx="236855" cy="241935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29"/>
            </p:custDataLst>
          </p:nvPr>
        </p:nvSpPr>
        <p:spPr>
          <a:xfrm>
            <a:off x="7133590" y="2504440"/>
            <a:ext cx="2042160" cy="349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01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反向过程参数化</a:t>
            </a:r>
            <a:endParaRPr sz="201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0"/>
            </p:custDataLst>
          </p:nvPr>
        </p:nvSpPr>
        <p:spPr>
          <a:xfrm>
            <a:off x="6882130" y="3016885"/>
            <a:ext cx="4287520" cy="3790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01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p</a:t>
            </a:r>
            <a:r>
              <a:rPr sz="2570" baseline="-2500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θ</a:t>
            </a:r>
            <a:r>
              <a:rPr sz="201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(x</a:t>
            </a:r>
            <a:r>
              <a:rPr sz="2570" baseline="-2500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t-1</a:t>
            </a:r>
            <a:r>
              <a:rPr sz="201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|x</a:t>
            </a:r>
            <a:r>
              <a:rPr sz="2570" baseline="-2500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sz="201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 = </a:t>
            </a:r>
            <a:r>
              <a:rPr lang="zh-CN" altLang="en-US" sz="201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𝒩</a:t>
            </a:r>
            <a:r>
              <a:rPr lang="en-US" altLang="zh-CN" sz="201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(μ</a:t>
            </a:r>
            <a:r>
              <a:rPr sz="2570" baseline="-2500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θ</a:t>
            </a:r>
            <a:r>
              <a:rPr sz="201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(x</a:t>
            </a:r>
            <a:r>
              <a:rPr sz="2570" baseline="-2500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201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,t), Σ</a:t>
            </a:r>
            <a:r>
              <a:rPr sz="2570" baseline="-2500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θ</a:t>
            </a:r>
            <a:r>
              <a:rPr sz="201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(x</a:t>
            </a:r>
            <a:r>
              <a:rPr sz="2570" baseline="-2500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2010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,t))</a:t>
            </a:r>
            <a:endParaRPr sz="2010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1"/>
            </p:custDataLst>
          </p:nvPr>
        </p:nvSpPr>
        <p:spPr>
          <a:xfrm>
            <a:off x="7611110" y="3533140"/>
            <a:ext cx="354330" cy="2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9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μ</a:t>
            </a:r>
            <a:r>
              <a:rPr sz="1655" b="1" baseline="-2500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θ</a:t>
            </a:r>
            <a:endParaRPr sz="1655" b="1" baseline="-25000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2"/>
            </p:custDataLst>
          </p:nvPr>
        </p:nvSpPr>
        <p:spPr>
          <a:xfrm>
            <a:off x="7049770" y="3780155"/>
            <a:ext cx="1477010" cy="218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9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神经网络预测均值</a:t>
            </a:r>
            <a:endParaRPr sz="129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3"/>
            </p:custDataLst>
          </p:nvPr>
        </p:nvSpPr>
        <p:spPr>
          <a:xfrm>
            <a:off x="10080625" y="3533140"/>
            <a:ext cx="367030" cy="2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9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Σ</a:t>
            </a:r>
            <a:r>
              <a:rPr sz="1655" b="1" baseline="-2500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θ</a:t>
            </a:r>
            <a:endParaRPr sz="1655" b="1" baseline="-25000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4"/>
            </p:custDataLst>
          </p:nvPr>
        </p:nvSpPr>
        <p:spPr>
          <a:xfrm>
            <a:off x="9575800" y="3780155"/>
            <a:ext cx="1376680" cy="218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29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可学习</a:t>
            </a:r>
            <a:r>
              <a:rPr lang="en-US" altLang="zh-CN" sz="129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/</a:t>
            </a:r>
            <a:r>
              <a:rPr lang="zh-CN" altLang="en-US" sz="129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固定方差</a:t>
            </a:r>
            <a:endParaRPr lang="zh-CN" altLang="en-US" sz="129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5"/>
            </p:custDataLst>
          </p:nvPr>
        </p:nvSpPr>
        <p:spPr>
          <a:xfrm>
            <a:off x="7303135" y="4107815"/>
            <a:ext cx="3446145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9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马尔可夫链近似真实后验，逐步去噪重建数据</a:t>
            </a:r>
            <a:endParaRPr sz="129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6"/>
            </p:custDataLst>
          </p:nvPr>
        </p:nvSpPr>
        <p:spPr>
          <a:xfrm>
            <a:off x="6436360" y="4773930"/>
            <a:ext cx="5179695" cy="1697355"/>
          </a:xfrm>
          <a:custGeom>
            <a:avLst/>
            <a:gdLst>
              <a:gd name="sw" fmla="*/ 1 w 8521"/>
              <a:gd name="sh" fmla="*/ 1 h 2793"/>
              <a:gd name="mins" fmla="min sw sh"/>
              <a:gd name="dsw" fmla="+- 0 sw mins"/>
              <a:gd name="dsh" fmla="+- 0 sh mins"/>
              <a:gd name="p0x0" fmla="*/ 210 w 8521"/>
              <a:gd name="p0y0" fmla="*/ 0 h 2793"/>
              <a:gd name="p0x1" fmla="*/ 8311 w 8521"/>
              <a:gd name="p0y1" fmla="*/ 0 h 2793"/>
              <a:gd name="p0x2" fmla="*/ 8427 w 8521"/>
              <a:gd name="p0y2" fmla="*/ 0 h 2793"/>
              <a:gd name="p0x3" fmla="*/ 8521 w 8521"/>
              <a:gd name="p0y3" fmla="*/ 94 h 2793"/>
              <a:gd name="p0x4" fmla="*/ 8521 w 8521"/>
              <a:gd name="p0y4" fmla="*/ 210 h 2793"/>
              <a:gd name="p0x5" fmla="*/ 8521 w 8521"/>
              <a:gd name="p0y5" fmla="*/ 2583 h 2793"/>
              <a:gd name="p0x6" fmla="*/ 8521 w 8521"/>
              <a:gd name="p0y6" fmla="*/ 2699 h 2793"/>
              <a:gd name="p0x7" fmla="*/ 8427 w 8521"/>
              <a:gd name="p0y7" fmla="*/ 2793 h 2793"/>
              <a:gd name="p0x8" fmla="*/ 8311 w 8521"/>
              <a:gd name="p0y8" fmla="*/ 2793 h 2793"/>
              <a:gd name="p0x9" fmla="*/ 210 w 8521"/>
              <a:gd name="p0y9" fmla="*/ 2793 h 2793"/>
              <a:gd name="p0x10" fmla="*/ 94 w 8521"/>
              <a:gd name="p0y10" fmla="*/ 2793 h 2793"/>
              <a:gd name="p0x11" fmla="*/ 0 w 8521"/>
              <a:gd name="p0y11" fmla="*/ 2699 h 2793"/>
              <a:gd name="p0x12" fmla="*/ 0 w 8521"/>
              <a:gd name="p0y12" fmla="*/ 2583 h 2793"/>
              <a:gd name="p0x13" fmla="*/ 0 w 8521"/>
              <a:gd name="p0y13" fmla="*/ 210 h 2793"/>
              <a:gd name="p0x14" fmla="*/ 0 w 8521"/>
              <a:gd name="p0y14" fmla="*/ 94 h 2793"/>
              <a:gd name="p0x15" fmla="*/ 94 w 8521"/>
              <a:gd name="p0y15" fmla="*/ 0 h 2793"/>
              <a:gd name="p0x16" fmla="*/ 210 w 8521"/>
              <a:gd name="p0y16" fmla="*/ 0 h 27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C06800"/>
          </a:solidFill>
          <a:ln w="9117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7"/>
            </p:custDataLst>
          </p:nvPr>
        </p:nvSpPr>
        <p:spPr>
          <a:xfrm>
            <a:off x="8260080" y="4961255"/>
            <a:ext cx="1531620" cy="2870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720" b="1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</a:rPr>
              <a:t>损失函数对比</a:t>
            </a:r>
            <a:endParaRPr sz="1720" b="1">
              <a:solidFill>
                <a:srgbClr val="FFF8F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8"/>
            </p:custDataLst>
          </p:nvPr>
        </p:nvSpPr>
        <p:spPr>
          <a:xfrm>
            <a:off x="6623050" y="5297170"/>
            <a:ext cx="2348230" cy="738505"/>
          </a:xfrm>
          <a:custGeom>
            <a:avLst/>
            <a:gdLst>
              <a:gd name="sw" fmla="*/ 1 w 3863"/>
              <a:gd name="sh" fmla="*/ 1 h 1214"/>
              <a:gd name="mins" fmla="min sw sh"/>
              <a:gd name="dsw" fmla="+- 0 sw mins"/>
              <a:gd name="dsh" fmla="+- 0 sh mins"/>
              <a:gd name="p0x0" fmla="*/ 90 w 3863"/>
              <a:gd name="p0y0" fmla="*/ 0 h 1214"/>
              <a:gd name="p0x1" fmla="*/ 3773 w 3863"/>
              <a:gd name="p0y1" fmla="*/ 0 h 1214"/>
              <a:gd name="p0x2" fmla="*/ 3823 w 3863"/>
              <a:gd name="p0y2" fmla="*/ 0 h 1214"/>
              <a:gd name="p0x3" fmla="*/ 3863 w 3863"/>
              <a:gd name="p0y3" fmla="*/ 40 h 1214"/>
              <a:gd name="p0x4" fmla="*/ 3863 w 3863"/>
              <a:gd name="p0y4" fmla="*/ 90 h 1214"/>
              <a:gd name="p0x5" fmla="*/ 3863 w 3863"/>
              <a:gd name="p0y5" fmla="*/ 1124 h 1214"/>
              <a:gd name="p0x6" fmla="*/ 3863 w 3863"/>
              <a:gd name="p0y6" fmla="*/ 1174 h 1214"/>
              <a:gd name="p0x7" fmla="*/ 3823 w 3863"/>
              <a:gd name="p0y7" fmla="*/ 1214 h 1214"/>
              <a:gd name="p0x8" fmla="*/ 3773 w 3863"/>
              <a:gd name="p0y8" fmla="*/ 1214 h 1214"/>
              <a:gd name="p0x9" fmla="*/ 90 w 3863"/>
              <a:gd name="p0y9" fmla="*/ 1214 h 1214"/>
              <a:gd name="p0x10" fmla="*/ 40 w 3863"/>
              <a:gd name="p0y10" fmla="*/ 1214 h 1214"/>
              <a:gd name="p0x11" fmla="*/ 0 w 3863"/>
              <a:gd name="p0y11" fmla="*/ 1174 h 1214"/>
              <a:gd name="p0x12" fmla="*/ 0 w 3863"/>
              <a:gd name="p0y12" fmla="*/ 1124 h 1214"/>
              <a:gd name="p0x13" fmla="*/ 0 w 3863"/>
              <a:gd name="p0y13" fmla="*/ 90 h 1214"/>
              <a:gd name="p0x14" fmla="*/ 0 w 3863"/>
              <a:gd name="p0y14" fmla="*/ 40 h 1214"/>
              <a:gd name="p0x15" fmla="*/ 40 w 3863"/>
              <a:gd name="p0y15" fmla="*/ 0 h 1214"/>
              <a:gd name="p0x16" fmla="*/ 90 w 3863"/>
              <a:gd name="p0y16" fmla="*/ 0 h 12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8F2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9"/>
            </p:custDataLst>
          </p:nvPr>
        </p:nvSpPr>
        <p:spPr>
          <a:xfrm>
            <a:off x="7463790" y="5343525"/>
            <a:ext cx="666750" cy="218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90" b="1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</a:rPr>
              <a:t>DDPM</a:t>
            </a:r>
            <a:endParaRPr sz="1290" b="1">
              <a:solidFill>
                <a:srgbClr val="FFF8F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0"/>
            </p:custDataLst>
          </p:nvPr>
        </p:nvSpPr>
        <p:spPr>
          <a:xfrm>
            <a:off x="7455535" y="5561965"/>
            <a:ext cx="683260" cy="2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90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</a:rPr>
              <a:t>L</a:t>
            </a:r>
            <a:r>
              <a:rPr sz="1655" baseline="-25000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</a:rPr>
              <a:t>simple</a:t>
            </a:r>
            <a:endParaRPr sz="1655" baseline="-25000">
              <a:solidFill>
                <a:srgbClr val="FFF8F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1"/>
            </p:custDataLst>
          </p:nvPr>
        </p:nvSpPr>
        <p:spPr>
          <a:xfrm>
            <a:off x="7200265" y="5808980"/>
            <a:ext cx="11938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290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噪声预测</a:t>
            </a:r>
            <a:r>
              <a:rPr lang="en-US" altLang="zh-CN" sz="1290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MSE</a:t>
            </a:r>
            <a:endParaRPr lang="en-US" altLang="zh-CN" sz="1290">
              <a:solidFill>
                <a:srgbClr val="FFF8F2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2"/>
            </p:custDataLst>
          </p:nvPr>
        </p:nvSpPr>
        <p:spPr>
          <a:xfrm>
            <a:off x="9080500" y="5297170"/>
            <a:ext cx="2348230" cy="738505"/>
          </a:xfrm>
          <a:custGeom>
            <a:avLst/>
            <a:gdLst>
              <a:gd name="sw" fmla="*/ 1 w 3863"/>
              <a:gd name="sh" fmla="*/ 1 h 1214"/>
              <a:gd name="mins" fmla="min sw sh"/>
              <a:gd name="dsw" fmla="+- 0 sw mins"/>
              <a:gd name="dsh" fmla="+- 0 sh mins"/>
              <a:gd name="p0x0" fmla="*/ 90 w 3863"/>
              <a:gd name="p0y0" fmla="*/ 0 h 1214"/>
              <a:gd name="p0x1" fmla="*/ 3773 w 3863"/>
              <a:gd name="p0y1" fmla="*/ 0 h 1214"/>
              <a:gd name="p0x2" fmla="*/ 3823 w 3863"/>
              <a:gd name="p0y2" fmla="*/ 0 h 1214"/>
              <a:gd name="p0x3" fmla="*/ 3863 w 3863"/>
              <a:gd name="p0y3" fmla="*/ 40 h 1214"/>
              <a:gd name="p0x4" fmla="*/ 3863 w 3863"/>
              <a:gd name="p0y4" fmla="*/ 90 h 1214"/>
              <a:gd name="p0x5" fmla="*/ 3863 w 3863"/>
              <a:gd name="p0y5" fmla="*/ 1124 h 1214"/>
              <a:gd name="p0x6" fmla="*/ 3863 w 3863"/>
              <a:gd name="p0y6" fmla="*/ 1174 h 1214"/>
              <a:gd name="p0x7" fmla="*/ 3823 w 3863"/>
              <a:gd name="p0y7" fmla="*/ 1214 h 1214"/>
              <a:gd name="p0x8" fmla="*/ 3773 w 3863"/>
              <a:gd name="p0y8" fmla="*/ 1214 h 1214"/>
              <a:gd name="p0x9" fmla="*/ 90 w 3863"/>
              <a:gd name="p0y9" fmla="*/ 1214 h 1214"/>
              <a:gd name="p0x10" fmla="*/ 40 w 3863"/>
              <a:gd name="p0y10" fmla="*/ 1214 h 1214"/>
              <a:gd name="p0x11" fmla="*/ 0 w 3863"/>
              <a:gd name="p0y11" fmla="*/ 1174 h 1214"/>
              <a:gd name="p0x12" fmla="*/ 0 w 3863"/>
              <a:gd name="p0y12" fmla="*/ 1124 h 1214"/>
              <a:gd name="p0x13" fmla="*/ 0 w 3863"/>
              <a:gd name="p0y13" fmla="*/ 90 h 1214"/>
              <a:gd name="p0x14" fmla="*/ 0 w 3863"/>
              <a:gd name="p0y14" fmla="*/ 40 h 1214"/>
              <a:gd name="p0x15" fmla="*/ 40 w 3863"/>
              <a:gd name="p0y15" fmla="*/ 0 h 1214"/>
              <a:gd name="p0x16" fmla="*/ 90 w 3863"/>
              <a:gd name="p0y16" fmla="*/ 0 h 121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8F2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3"/>
            </p:custDataLst>
          </p:nvPr>
        </p:nvSpPr>
        <p:spPr>
          <a:xfrm>
            <a:off x="9803765" y="5343525"/>
            <a:ext cx="902335" cy="218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90" b="1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</a:rPr>
              <a:t>Improved</a:t>
            </a:r>
            <a:endParaRPr sz="1290" b="1">
              <a:solidFill>
                <a:srgbClr val="FFF8F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4"/>
            </p:custDataLst>
          </p:nvPr>
        </p:nvSpPr>
        <p:spPr>
          <a:xfrm>
            <a:off x="9924415" y="5561965"/>
            <a:ext cx="661035" cy="2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90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</a:rPr>
              <a:t>L</a:t>
            </a:r>
            <a:r>
              <a:rPr sz="1655" baseline="-25000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</a:rPr>
              <a:t>hybrid</a:t>
            </a:r>
            <a:endParaRPr sz="1655" baseline="-25000">
              <a:solidFill>
                <a:srgbClr val="FFF8F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45"/>
            </p:custDataLst>
          </p:nvPr>
        </p:nvSpPr>
        <p:spPr>
          <a:xfrm>
            <a:off x="9824720" y="5808980"/>
            <a:ext cx="860425" cy="2470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90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</a:rPr>
              <a:t>+ λ·L</a:t>
            </a:r>
            <a:r>
              <a:rPr sz="1655" baseline="-25000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</a:rPr>
              <a:t>vlb</a:t>
            </a:r>
            <a:endParaRPr sz="1655" baseline="-25000">
              <a:solidFill>
                <a:srgbClr val="FFF8F2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46"/>
            </p:custDataLst>
          </p:nvPr>
        </p:nvSpPr>
        <p:spPr>
          <a:xfrm>
            <a:off x="7369810" y="6109335"/>
            <a:ext cx="3312160" cy="191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145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简化训练</a:t>
            </a:r>
            <a:r>
              <a:rPr lang="en-US" altLang="zh-CN" sz="1145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vs </a:t>
            </a:r>
            <a:r>
              <a:rPr lang="zh-CN" altLang="en-US" sz="1145">
                <a:solidFill>
                  <a:srgbClr val="FFF8F2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复杂变分下界，精度与效率的权衡</a:t>
            </a:r>
            <a:endParaRPr lang="zh-CN" altLang="en-US" sz="1145">
              <a:solidFill>
                <a:srgbClr val="FFF8F2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噪声调度策略与训练配置简化</a:t>
            </a:r>
            <a:endParaRPr sz="30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"/>
            </p:custDataLst>
          </p:nvPr>
        </p:nvSpPr>
        <p:spPr>
          <a:xfrm>
            <a:off x="5067224" y="3870960"/>
            <a:ext cx="2057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训练配置简化方案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5945" y="11093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210 w 5585"/>
              <a:gd name="p0y0" fmla="*/ 0 h 4065"/>
              <a:gd name="p0x1" fmla="*/ 5375 w 5585"/>
              <a:gd name="p0y1" fmla="*/ 0 h 4065"/>
              <a:gd name="p0x2" fmla="*/ 5491 w 5585"/>
              <a:gd name="p0y2" fmla="*/ 0 h 4065"/>
              <a:gd name="p0x3" fmla="*/ 5585 w 5585"/>
              <a:gd name="p0y3" fmla="*/ 94 h 4065"/>
              <a:gd name="p0x4" fmla="*/ 5585 w 5585"/>
              <a:gd name="p0y4" fmla="*/ 210 h 4065"/>
              <a:gd name="p0x5" fmla="*/ 5585 w 5585"/>
              <a:gd name="p0y5" fmla="*/ 3855 h 4065"/>
              <a:gd name="p0x6" fmla="*/ 5585 w 5585"/>
              <a:gd name="p0y6" fmla="*/ 3970 h 4065"/>
              <a:gd name="p0x7" fmla="*/ 5491 w 5585"/>
              <a:gd name="p0y7" fmla="*/ 4065 h 4065"/>
              <a:gd name="p0x8" fmla="*/ 5375 w 5585"/>
              <a:gd name="p0y8" fmla="*/ 4065 h 4065"/>
              <a:gd name="p0x9" fmla="*/ 210 w 5585"/>
              <a:gd name="p0y9" fmla="*/ 4065 h 4065"/>
              <a:gd name="p0x10" fmla="*/ 94 w 5585"/>
              <a:gd name="p0y10" fmla="*/ 4065 h 4065"/>
              <a:gd name="p0x11" fmla="*/ 0 w 5585"/>
              <a:gd name="p0y11" fmla="*/ 3970 h 4065"/>
              <a:gd name="p0x12" fmla="*/ 0 w 5585"/>
              <a:gd name="p0y12" fmla="*/ 3855 h 4065"/>
              <a:gd name="p0x13" fmla="*/ 0 w 5585"/>
              <a:gd name="p0y13" fmla="*/ 210 h 4065"/>
              <a:gd name="p0x14" fmla="*/ 0 w 5585"/>
              <a:gd name="p0y14" fmla="*/ 94 h 4065"/>
              <a:gd name="p0x15" fmla="*/ 94 w 5585"/>
              <a:gd name="p0y15" fmla="*/ 0 h 4065"/>
              <a:gd name="p0x16" fmla="*/ 21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771525" y="1304925"/>
            <a:ext cx="3155950" cy="398145"/>
          </a:xfrm>
          <a:custGeom>
            <a:avLst/>
            <a:gdLst>
              <a:gd name="sw" fmla="*/ 1 w 4970"/>
              <a:gd name="sh" fmla="*/ 1 h 627"/>
              <a:gd name="mins" fmla="min sw sh"/>
              <a:gd name="dsw" fmla="+- 0 sw mins"/>
              <a:gd name="dsh" fmla="+- 0 sh mins"/>
              <a:gd name="p0x0" fmla="*/ 90 w 4970"/>
              <a:gd name="p0y0" fmla="*/ 0 h 627"/>
              <a:gd name="p0x1" fmla="*/ 4880 w 4970"/>
              <a:gd name="p0y1" fmla="*/ 0 h 627"/>
              <a:gd name="p0x2" fmla="*/ 4929 w 4970"/>
              <a:gd name="p0y2" fmla="*/ 0 h 627"/>
              <a:gd name="p0x3" fmla="*/ 4970 w 4970"/>
              <a:gd name="p0y3" fmla="*/ 40 h 627"/>
              <a:gd name="p0x4" fmla="*/ 4970 w 4970"/>
              <a:gd name="p0y4" fmla="*/ 90 h 627"/>
              <a:gd name="p0x5" fmla="*/ 4970 w 4970"/>
              <a:gd name="p0y5" fmla="*/ 537 h 627"/>
              <a:gd name="p0x6" fmla="*/ 4970 w 4970"/>
              <a:gd name="p0y6" fmla="*/ 587 h 627"/>
              <a:gd name="p0x7" fmla="*/ 4929 w 4970"/>
              <a:gd name="p0y7" fmla="*/ 627 h 627"/>
              <a:gd name="p0x8" fmla="*/ 4880 w 4970"/>
              <a:gd name="p0y8" fmla="*/ 627 h 627"/>
              <a:gd name="p0x9" fmla="*/ 90 w 4970"/>
              <a:gd name="p0y9" fmla="*/ 627 h 627"/>
              <a:gd name="p0x10" fmla="*/ 40 w 4970"/>
              <a:gd name="p0y10" fmla="*/ 627 h 627"/>
              <a:gd name="p0x11" fmla="*/ 0 w 4970"/>
              <a:gd name="p0y11" fmla="*/ 587 h 627"/>
              <a:gd name="p0x12" fmla="*/ 0 w 4970"/>
              <a:gd name="p0y12" fmla="*/ 537 h 627"/>
              <a:gd name="p0x13" fmla="*/ 0 w 4970"/>
              <a:gd name="p0y13" fmla="*/ 90 h 627"/>
              <a:gd name="p0x14" fmla="*/ 0 w 4970"/>
              <a:gd name="p0y14" fmla="*/ 40 h 627"/>
              <a:gd name="p0x15" fmla="*/ 40 w 4970"/>
              <a:gd name="p0y15" fmla="*/ 0 h 627"/>
              <a:gd name="p0x16" fmla="*/ 90 w 4970"/>
              <a:gd name="p0y16" fmla="*/ 0 h 62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885825" y="1367314"/>
            <a:ext cx="2927375" cy="2659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β</a:t>
            </a:r>
            <a:r>
              <a:rPr sz="1730" baseline="-250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= β</a:t>
            </a:r>
            <a:r>
              <a:rPr sz="1730" baseline="-250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min</a:t>
            </a:r>
            <a:r>
              <a:rPr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+ (β</a:t>
            </a:r>
            <a:r>
              <a:rPr sz="1730" baseline="-250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max</a:t>
            </a:r>
            <a:r>
              <a:rPr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- β</a:t>
            </a:r>
            <a:r>
              <a:rPr sz="1730" baseline="-250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min</a:t>
            </a:r>
            <a:r>
              <a:rPr lang="en-US"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) </a:t>
            </a:r>
            <a:r>
              <a:rPr lang="zh-CN" altLang="en-US"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×</a:t>
            </a:r>
            <a:r>
              <a:rPr lang="en-US" altLang="zh-CN"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(t/T)</a:t>
            </a:r>
            <a:endParaRPr lang="en-US" altLang="zh-CN" sz="135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771525" y="1802549"/>
            <a:ext cx="31559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线性调度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771525" y="2619461"/>
            <a:ext cx="31559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DDPM</a:t>
            </a:r>
            <a:r>
              <a:rPr lang="zh-CN" altLang="en-US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原始设定，</a:t>
            </a:r>
            <a:r>
              <a:rPr lang="en-US" altLang="zh-CN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beta</a:t>
            </a:r>
            <a:r>
              <a:rPr lang="zh-CN" altLang="en-US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随时间线性增长，实现简单直接</a:t>
            </a:r>
            <a:endParaRPr lang="zh-CN" altLang="en-US"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771525" y="3206144"/>
            <a:ext cx="31559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过程变化相对剧烈，噪声添加速率恒定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4322445" y="11093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210 w 5585"/>
              <a:gd name="p0y0" fmla="*/ 0 h 4065"/>
              <a:gd name="p0x1" fmla="*/ 5375 w 5585"/>
              <a:gd name="p0y1" fmla="*/ 0 h 4065"/>
              <a:gd name="p0x2" fmla="*/ 5491 w 5585"/>
              <a:gd name="p0y2" fmla="*/ 0 h 4065"/>
              <a:gd name="p0x3" fmla="*/ 5585 w 5585"/>
              <a:gd name="p0y3" fmla="*/ 94 h 4065"/>
              <a:gd name="p0x4" fmla="*/ 5585 w 5585"/>
              <a:gd name="p0y4" fmla="*/ 210 h 4065"/>
              <a:gd name="p0x5" fmla="*/ 5585 w 5585"/>
              <a:gd name="p0y5" fmla="*/ 3855 h 4065"/>
              <a:gd name="p0x6" fmla="*/ 5585 w 5585"/>
              <a:gd name="p0y6" fmla="*/ 3970 h 4065"/>
              <a:gd name="p0x7" fmla="*/ 5491 w 5585"/>
              <a:gd name="p0y7" fmla="*/ 4065 h 4065"/>
              <a:gd name="p0x8" fmla="*/ 5375 w 5585"/>
              <a:gd name="p0y8" fmla="*/ 4065 h 4065"/>
              <a:gd name="p0x9" fmla="*/ 210 w 5585"/>
              <a:gd name="p0y9" fmla="*/ 4065 h 4065"/>
              <a:gd name="p0x10" fmla="*/ 94 w 5585"/>
              <a:gd name="p0y10" fmla="*/ 4065 h 4065"/>
              <a:gd name="p0x11" fmla="*/ 0 w 5585"/>
              <a:gd name="p0y11" fmla="*/ 3970 h 4065"/>
              <a:gd name="p0x12" fmla="*/ 0 w 5585"/>
              <a:gd name="p0y12" fmla="*/ 3855 h 4065"/>
              <a:gd name="p0x13" fmla="*/ 0 w 5585"/>
              <a:gd name="p0y13" fmla="*/ 210 h 4065"/>
              <a:gd name="p0x14" fmla="*/ 0 w 5585"/>
              <a:gd name="p0y14" fmla="*/ 94 h 4065"/>
              <a:gd name="p0x15" fmla="*/ 94 w 5585"/>
              <a:gd name="p0y15" fmla="*/ 0 h 4065"/>
              <a:gd name="p0x16" fmla="*/ 21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10"/>
            </p:custDataLst>
          </p:nvPr>
        </p:nvSpPr>
        <p:spPr>
          <a:xfrm>
            <a:off x="4518025" y="1304925"/>
            <a:ext cx="3155950" cy="612775"/>
          </a:xfrm>
          <a:custGeom>
            <a:avLst/>
            <a:gdLst>
              <a:gd name="sw" fmla="*/ 1 w 4970"/>
              <a:gd name="sh" fmla="*/ 1 h 965"/>
              <a:gd name="mins" fmla="min sw sh"/>
              <a:gd name="dsw" fmla="+- 0 sw mins"/>
              <a:gd name="dsh" fmla="+- 0 sh mins"/>
              <a:gd name="p0x0" fmla="*/ 90 w 4970"/>
              <a:gd name="p0y0" fmla="*/ 0 h 965"/>
              <a:gd name="p0x1" fmla="*/ 4880 w 4970"/>
              <a:gd name="p0y1" fmla="*/ 0 h 965"/>
              <a:gd name="p0x2" fmla="*/ 4929 w 4970"/>
              <a:gd name="p0y2" fmla="*/ 0 h 965"/>
              <a:gd name="p0x3" fmla="*/ 4970 w 4970"/>
              <a:gd name="p0y3" fmla="*/ 40 h 965"/>
              <a:gd name="p0x4" fmla="*/ 4970 w 4970"/>
              <a:gd name="p0y4" fmla="*/ 90 h 965"/>
              <a:gd name="p0x5" fmla="*/ 4970 w 4970"/>
              <a:gd name="p0y5" fmla="*/ 875 h 965"/>
              <a:gd name="p0x6" fmla="*/ 4970 w 4970"/>
              <a:gd name="p0y6" fmla="*/ 924 h 965"/>
              <a:gd name="p0x7" fmla="*/ 4929 w 4970"/>
              <a:gd name="p0y7" fmla="*/ 965 h 965"/>
              <a:gd name="p0x8" fmla="*/ 4880 w 4970"/>
              <a:gd name="p0y8" fmla="*/ 965 h 965"/>
              <a:gd name="p0x9" fmla="*/ 90 w 4970"/>
              <a:gd name="p0y9" fmla="*/ 965 h 965"/>
              <a:gd name="p0x10" fmla="*/ 40 w 4970"/>
              <a:gd name="p0y10" fmla="*/ 965 h 965"/>
              <a:gd name="p0x11" fmla="*/ 0 w 4970"/>
              <a:gd name="p0y11" fmla="*/ 924 h 965"/>
              <a:gd name="p0x12" fmla="*/ 0 w 4970"/>
              <a:gd name="p0y12" fmla="*/ 875 h 965"/>
              <a:gd name="p0x13" fmla="*/ 0 w 4970"/>
              <a:gd name="p0y13" fmla="*/ 90 h 965"/>
              <a:gd name="p0x14" fmla="*/ 0 w 4970"/>
              <a:gd name="p0y14" fmla="*/ 40 h 965"/>
              <a:gd name="p0x15" fmla="*/ 40 w 4970"/>
              <a:gd name="p0y15" fmla="*/ 0 h 965"/>
              <a:gd name="p0x16" fmla="*/ 90 w 4970"/>
              <a:gd name="p0y16" fmla="*/ 0 h 9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4632351" y="1367314"/>
            <a:ext cx="2927375" cy="4833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04000"/>
              </a:lnSpc>
            </a:pPr>
            <a:r>
              <a:rPr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ᾱ</a:t>
            </a:r>
            <a:r>
              <a:rPr sz="1730" baseline="-250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lang="en-US"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= f(t)/f(0), f(t) = cos²((t/T+s)/(1+s) </a:t>
            </a:r>
            <a:r>
              <a:rPr lang="zh-CN" altLang="en-US"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×</a:t>
            </a:r>
            <a:r>
              <a:rPr lang="en-US" altLang="zh-CN"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π/2)</a:t>
            </a:r>
            <a:endParaRPr lang="en-US" altLang="zh-CN" sz="135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4518051" y="2016862"/>
            <a:ext cx="31559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余弦调度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4518051" y="2893752"/>
            <a:ext cx="31559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改进方案，扩散过程始末变化更平缓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4518051" y="3206144"/>
            <a:ext cx="31559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中间阶段加速，整体信噪比过渡更自然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5"/>
            </p:custDataLst>
          </p:nvPr>
        </p:nvSpPr>
        <p:spPr>
          <a:xfrm>
            <a:off x="8068945" y="1109345"/>
            <a:ext cx="3546475" cy="2581275"/>
          </a:xfrm>
          <a:custGeom>
            <a:avLst/>
            <a:gdLst>
              <a:gd name="sw" fmla="*/ 1 w 5585"/>
              <a:gd name="sh" fmla="*/ 1 h 4065"/>
              <a:gd name="mins" fmla="min sw sh"/>
              <a:gd name="dsw" fmla="+- 0 sw mins"/>
              <a:gd name="dsh" fmla="+- 0 sh mins"/>
              <a:gd name="p0x0" fmla="*/ 210 w 5585"/>
              <a:gd name="p0y0" fmla="*/ 0 h 4065"/>
              <a:gd name="p0x1" fmla="*/ 5375 w 5585"/>
              <a:gd name="p0y1" fmla="*/ 0 h 4065"/>
              <a:gd name="p0x2" fmla="*/ 5491 w 5585"/>
              <a:gd name="p0y2" fmla="*/ 0 h 4065"/>
              <a:gd name="p0x3" fmla="*/ 5585 w 5585"/>
              <a:gd name="p0y3" fmla="*/ 94 h 4065"/>
              <a:gd name="p0x4" fmla="*/ 5585 w 5585"/>
              <a:gd name="p0y4" fmla="*/ 210 h 4065"/>
              <a:gd name="p0x5" fmla="*/ 5585 w 5585"/>
              <a:gd name="p0y5" fmla="*/ 3855 h 4065"/>
              <a:gd name="p0x6" fmla="*/ 5585 w 5585"/>
              <a:gd name="p0y6" fmla="*/ 3970 h 4065"/>
              <a:gd name="p0x7" fmla="*/ 5491 w 5585"/>
              <a:gd name="p0y7" fmla="*/ 4065 h 4065"/>
              <a:gd name="p0x8" fmla="*/ 5375 w 5585"/>
              <a:gd name="p0y8" fmla="*/ 4065 h 4065"/>
              <a:gd name="p0x9" fmla="*/ 210 w 5585"/>
              <a:gd name="p0y9" fmla="*/ 4065 h 4065"/>
              <a:gd name="p0x10" fmla="*/ 94 w 5585"/>
              <a:gd name="p0y10" fmla="*/ 4065 h 4065"/>
              <a:gd name="p0x11" fmla="*/ 0 w 5585"/>
              <a:gd name="p0y11" fmla="*/ 3970 h 4065"/>
              <a:gd name="p0x12" fmla="*/ 0 w 5585"/>
              <a:gd name="p0y12" fmla="*/ 3855 h 4065"/>
              <a:gd name="p0x13" fmla="*/ 0 w 5585"/>
              <a:gd name="p0y13" fmla="*/ 210 h 4065"/>
              <a:gd name="p0x14" fmla="*/ 0 w 5585"/>
              <a:gd name="p0y14" fmla="*/ 94 h 4065"/>
              <a:gd name="p0x15" fmla="*/ 94 w 5585"/>
              <a:gd name="p0y15" fmla="*/ 0 h 4065"/>
              <a:gd name="p0x16" fmla="*/ 210 w 558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8264525" y="1304925"/>
            <a:ext cx="3155950" cy="398145"/>
          </a:xfrm>
          <a:custGeom>
            <a:avLst/>
            <a:gdLst>
              <a:gd name="sw" fmla="*/ 1 w 4970"/>
              <a:gd name="sh" fmla="*/ 1 h 627"/>
              <a:gd name="mins" fmla="min sw sh"/>
              <a:gd name="dsw" fmla="+- 0 sw mins"/>
              <a:gd name="dsh" fmla="+- 0 sh mins"/>
              <a:gd name="p0x0" fmla="*/ 90 w 4970"/>
              <a:gd name="p0y0" fmla="*/ 0 h 627"/>
              <a:gd name="p0x1" fmla="*/ 4880 w 4970"/>
              <a:gd name="p0y1" fmla="*/ 0 h 627"/>
              <a:gd name="p0x2" fmla="*/ 4929 w 4970"/>
              <a:gd name="p0y2" fmla="*/ 0 h 627"/>
              <a:gd name="p0x3" fmla="*/ 4970 w 4970"/>
              <a:gd name="p0y3" fmla="*/ 40 h 627"/>
              <a:gd name="p0x4" fmla="*/ 4970 w 4970"/>
              <a:gd name="p0y4" fmla="*/ 90 h 627"/>
              <a:gd name="p0x5" fmla="*/ 4970 w 4970"/>
              <a:gd name="p0y5" fmla="*/ 537 h 627"/>
              <a:gd name="p0x6" fmla="*/ 4970 w 4970"/>
              <a:gd name="p0y6" fmla="*/ 587 h 627"/>
              <a:gd name="p0x7" fmla="*/ 4929 w 4970"/>
              <a:gd name="p0y7" fmla="*/ 627 h 627"/>
              <a:gd name="p0x8" fmla="*/ 4880 w 4970"/>
              <a:gd name="p0y8" fmla="*/ 627 h 627"/>
              <a:gd name="p0x9" fmla="*/ 90 w 4970"/>
              <a:gd name="p0y9" fmla="*/ 627 h 627"/>
              <a:gd name="p0x10" fmla="*/ 40 w 4970"/>
              <a:gd name="p0y10" fmla="*/ 627 h 627"/>
              <a:gd name="p0x11" fmla="*/ 0 w 4970"/>
              <a:gd name="p0y11" fmla="*/ 587 h 627"/>
              <a:gd name="p0x12" fmla="*/ 0 w 4970"/>
              <a:gd name="p0y12" fmla="*/ 537 h 627"/>
              <a:gd name="p0x13" fmla="*/ 0 w 4970"/>
              <a:gd name="p0y13" fmla="*/ 90 h 627"/>
              <a:gd name="p0x14" fmla="*/ 0 w 4970"/>
              <a:gd name="p0y14" fmla="*/ 40 h 627"/>
              <a:gd name="p0x15" fmla="*/ 40 w 4970"/>
              <a:gd name="p0y15" fmla="*/ 0 h 627"/>
              <a:gd name="p0x16" fmla="*/ 90 w 4970"/>
              <a:gd name="p0y16" fmla="*/ 0 h 62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8378876" y="1367314"/>
            <a:ext cx="2927375" cy="2659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ᾱ</a:t>
            </a:r>
            <a:r>
              <a:rPr sz="1730" baseline="-250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t</a:t>
            </a:r>
            <a:r>
              <a:rPr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= 1 - √(1 - t/T)</a:t>
            </a:r>
            <a:endParaRPr sz="135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8264576" y="1802549"/>
            <a:ext cx="3155975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平方根调度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8264576" y="2893752"/>
            <a:ext cx="32576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简化运算，以更少计算模拟余弦平滑特性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0"/>
            </p:custDataLst>
          </p:nvPr>
        </p:nvSpPr>
        <p:spPr>
          <a:xfrm>
            <a:off x="8264576" y="3206144"/>
            <a:ext cx="31559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兼顾效果与效率，适合资源受限场景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1"/>
            </p:custDataLst>
          </p:nvPr>
        </p:nvSpPr>
        <p:spPr>
          <a:xfrm>
            <a:off x="575945" y="4290695"/>
            <a:ext cx="11039475" cy="2181225"/>
          </a:xfrm>
          <a:custGeom>
            <a:avLst/>
            <a:gdLst>
              <a:gd name="sw" fmla="*/ 1 w 17385"/>
              <a:gd name="sh" fmla="*/ 1 h 3435"/>
              <a:gd name="mins" fmla="min sw sh"/>
              <a:gd name="dsw" fmla="+- 0 sw mins"/>
              <a:gd name="dsh" fmla="+- 0 sh mins"/>
              <a:gd name="p0x0" fmla="*/ 210 w 17385"/>
              <a:gd name="p0y0" fmla="*/ 0 h 3435"/>
              <a:gd name="p0x1" fmla="*/ 17175 w 17385"/>
              <a:gd name="p0y1" fmla="*/ 0 h 3435"/>
              <a:gd name="p0x2" fmla="*/ 17290 w 17385"/>
              <a:gd name="p0y2" fmla="*/ 0 h 3435"/>
              <a:gd name="p0x3" fmla="*/ 17385 w 17385"/>
              <a:gd name="p0y3" fmla="*/ 94 h 3435"/>
              <a:gd name="p0x4" fmla="*/ 17385 w 17385"/>
              <a:gd name="p0y4" fmla="*/ 210 h 3435"/>
              <a:gd name="p0x5" fmla="*/ 17385 w 17385"/>
              <a:gd name="p0y5" fmla="*/ 3225 h 3435"/>
              <a:gd name="p0x6" fmla="*/ 17385 w 17385"/>
              <a:gd name="p0y6" fmla="*/ 3340 h 3435"/>
              <a:gd name="p0x7" fmla="*/ 17290 w 17385"/>
              <a:gd name="p0y7" fmla="*/ 3435 h 3435"/>
              <a:gd name="p0x8" fmla="*/ 17175 w 17385"/>
              <a:gd name="p0y8" fmla="*/ 3435 h 3435"/>
              <a:gd name="p0x9" fmla="*/ 210 w 17385"/>
              <a:gd name="p0y9" fmla="*/ 3435 h 3435"/>
              <a:gd name="p0x10" fmla="*/ 94 w 17385"/>
              <a:gd name="p0y10" fmla="*/ 3435 h 3435"/>
              <a:gd name="p0x11" fmla="*/ 0 w 17385"/>
              <a:gd name="p0y11" fmla="*/ 3340 h 3435"/>
              <a:gd name="p0x12" fmla="*/ 0 w 17385"/>
              <a:gd name="p0y12" fmla="*/ 3225 h 3435"/>
              <a:gd name="p0x13" fmla="*/ 0 w 17385"/>
              <a:gd name="p0y13" fmla="*/ 210 h 3435"/>
              <a:gd name="p0x14" fmla="*/ 0 w 17385"/>
              <a:gd name="p0y14" fmla="*/ 94 h 3435"/>
              <a:gd name="p0x15" fmla="*/ 94 w 17385"/>
              <a:gd name="p0y15" fmla="*/ 0 h 3435"/>
              <a:gd name="p0x16" fmla="*/ 210 w 17385"/>
              <a:gd name="p0y16" fmla="*/ 0 h 3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4" name="表格 23"/>
          <p:cNvGraphicFramePr/>
          <p:nvPr>
            <p:custDataLst>
              <p:tags r:id="rId22"/>
            </p:custDataLst>
          </p:nvPr>
        </p:nvGraphicFramePr>
        <p:xfrm>
          <a:off x="771525" y="4639945"/>
          <a:ext cx="10648950" cy="1482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237"/>
                <a:gridCol w="3993356"/>
                <a:gridCol w="3993356"/>
              </a:tblGrid>
              <a:tr h="500062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配置</a:t>
                      </a:r>
                      <a:endParaRPr sz="15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CD1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反向方差</a:t>
                      </a:r>
                      <a:endParaRPr sz="15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CD1D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损失函数</a:t>
                      </a:r>
                      <a:endParaRPr sz="15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>
                      <a:solidFill>
                        <a:srgbClr val="CCD1DA"/>
                      </a:solidFill>
                      <a:prstDash val="solid"/>
                    </a:lnB>
                    <a:noFill/>
                  </a:tcPr>
                </a:tc>
              </a:tr>
              <a:tr h="496193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C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完整配置</a:t>
                      </a:r>
                      <a:endParaRPr sz="1500" b="1">
                        <a:solidFill>
                          <a:srgbClr val="FFC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CCD1DA"/>
                      </a:solidFill>
                      <a:prstDash val="solid"/>
                    </a:lnT>
                    <a:lnB w="9525">
                      <a:solidFill>
                        <a:srgbClr val="EDEE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可学习方差</a:t>
                      </a:r>
                      <a:endParaRPr sz="1500" b="0">
                        <a:solidFill>
                          <a:srgbClr val="3D4148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CCD1DA"/>
                      </a:solidFill>
                      <a:prstDash val="solid"/>
                    </a:lnT>
                    <a:lnB w="9525">
                      <a:solidFill>
                        <a:srgbClr val="EDEEF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L</a:t>
                      </a:r>
                      <a:r>
                        <a:rPr sz="1730" b="0" baseline="-2500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hybrid</a:t>
                      </a:r>
                      <a:r>
                        <a:rPr sz="1350" b="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= L</a:t>
                      </a:r>
                      <a:r>
                        <a:rPr sz="1730" b="0" baseline="-2500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simple</a:t>
                      </a:r>
                      <a:r>
                        <a:rPr lang="en-US" sz="1350" b="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+ λ </a:t>
                      </a:r>
                      <a:r>
                        <a:rPr lang="zh-CN" altLang="en-US" sz="1350" b="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×</a:t>
                      </a:r>
                      <a:r>
                        <a:rPr lang="en-US" altLang="zh-CN" sz="1350" b="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 L</a:t>
                      </a:r>
                      <a:r>
                        <a:rPr sz="1730" b="0" baseline="-2500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vlb</a:t>
                      </a:r>
                      <a:endParaRPr sz="1730" b="0" baseline="-25000">
                        <a:solidFill>
                          <a:srgbClr val="3D4148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CCD1DA"/>
                      </a:solidFill>
                      <a:prstDash val="solid"/>
                    </a:lnT>
                    <a:lnB w="9525">
                      <a:solidFill>
                        <a:srgbClr val="EDEEF2"/>
                      </a:solidFill>
                      <a:prstDash val="solid"/>
                    </a:lnB>
                    <a:noFill/>
                  </a:tcPr>
                </a:tc>
              </a:tr>
              <a:tr h="486668">
                <a:tc>
                  <a:txBody>
                    <a:bodyPr wrap="square"/>
                    <a:p>
                      <a:pPr algn="l"/>
                      <a:r>
                        <a:rPr sz="1500" b="1">
                          <a:solidFill>
                            <a:srgbClr val="FFC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简化配置</a:t>
                      </a:r>
                      <a:endParaRPr sz="1500" b="1">
                        <a:solidFill>
                          <a:srgbClr val="FFC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DEEF2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500" b="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固定方差</a:t>
                      </a:r>
                      <a:endParaRPr sz="1500" b="0">
                        <a:solidFill>
                          <a:srgbClr val="3D4148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DEEF2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L</a:t>
                      </a:r>
                      <a:r>
                        <a:rPr sz="1730" b="0" baseline="-2500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simple</a:t>
                      </a:r>
                      <a:r>
                        <a:rPr sz="1350" b="0">
                          <a:solidFill>
                            <a:srgbClr val="3D4148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（仅噪声预测损失）</a:t>
                      </a:r>
                      <a:endParaRPr sz="1350" b="0">
                        <a:solidFill>
                          <a:srgbClr val="3D4148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114300" marR="114300" marT="114300" marB="114300" anchor="ctr">
                    <a:lnL>
                      <a:noFill/>
                    </a:lnL>
                    <a:lnR>
                      <a:noFill/>
                    </a:lnR>
                    <a:lnT w="9525">
                      <a:solidFill>
                        <a:srgbClr val="EDEEF2"/>
                      </a:solidFill>
                      <a:prstDash val="soli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代码实现展示</a:t>
            </a:r>
            <a:endParaRPr sz="30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687165" y="1368762"/>
            <a:ext cx="6817595" cy="4695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7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完整配置核心代码（</a:t>
            </a:r>
            <a:r>
              <a:rPr lang="en-US" altLang="zh-CN" sz="27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Improved DDPM</a:t>
            </a:r>
            <a:r>
              <a:rPr lang="zh-CN" altLang="en-US" sz="27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</a:t>
            </a:r>
            <a:endParaRPr lang="zh-CN" altLang="en-US" sz="27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571500" y="2010410"/>
            <a:ext cx="11049000" cy="3760470"/>
          </a:xfrm>
          <a:custGeom>
            <a:avLst/>
            <a:gdLst>
              <a:gd name="sw" fmla="*/ 1 w 17400"/>
              <a:gd name="sh" fmla="*/ 1 h 5921"/>
              <a:gd name="mins" fmla="min sw sh"/>
              <a:gd name="dsw" fmla="+- 0 sw mins"/>
              <a:gd name="dsh" fmla="+- 0 sh mins"/>
              <a:gd name="p0x0" fmla="*/ 330 w 17400"/>
              <a:gd name="p0y0" fmla="*/ 0 h 5921"/>
              <a:gd name="p0x1" fmla="*/ 17070 w 17400"/>
              <a:gd name="p0y1" fmla="*/ 0 h 5921"/>
              <a:gd name="p0x2" fmla="*/ 17252 w 17400"/>
              <a:gd name="p0y2" fmla="*/ 0 h 5921"/>
              <a:gd name="p0x3" fmla="*/ 17400 w 17400"/>
              <a:gd name="p0y3" fmla="*/ 147 h 5921"/>
              <a:gd name="p0x4" fmla="*/ 17400 w 17400"/>
              <a:gd name="p0y4" fmla="*/ 330 h 5921"/>
              <a:gd name="p0x5" fmla="*/ 17400 w 17400"/>
              <a:gd name="p0y5" fmla="*/ 5591 h 5921"/>
              <a:gd name="p0x6" fmla="*/ 17400 w 17400"/>
              <a:gd name="p0y6" fmla="*/ 5774 h 5921"/>
              <a:gd name="p0x7" fmla="*/ 17252 w 17400"/>
              <a:gd name="p0y7" fmla="*/ 5921 h 5921"/>
              <a:gd name="p0x8" fmla="*/ 17070 w 17400"/>
              <a:gd name="p0y8" fmla="*/ 5921 h 5921"/>
              <a:gd name="p0x9" fmla="*/ 330 w 17400"/>
              <a:gd name="p0y9" fmla="*/ 5921 h 5921"/>
              <a:gd name="p0x10" fmla="*/ 147 w 17400"/>
              <a:gd name="p0y10" fmla="*/ 5921 h 5921"/>
              <a:gd name="p0x11" fmla="*/ 0 w 17400"/>
              <a:gd name="p0y11" fmla="*/ 5774 h 5921"/>
              <a:gd name="p0x12" fmla="*/ 0 w 17400"/>
              <a:gd name="p0y12" fmla="*/ 5591 h 5921"/>
              <a:gd name="p0x13" fmla="*/ 0 w 17400"/>
              <a:gd name="p0y13" fmla="*/ 330 h 5921"/>
              <a:gd name="p0x14" fmla="*/ 0 w 17400"/>
              <a:gd name="p0y14" fmla="*/ 147 h 5921"/>
              <a:gd name="p0x15" fmla="*/ 147 w 17400"/>
              <a:gd name="p0y15" fmla="*/ 0 h 5921"/>
              <a:gd name="p0x16" fmla="*/ 330 w 17400"/>
              <a:gd name="p0y16" fmla="*/ 0 h 592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>
            <a:noFill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1500" y="2010412"/>
            <a:ext cx="11049000" cy="35242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555">
                <a:moveTo>
                  <a:pt x="330" y="0"/>
                </a:moveTo>
                <a:lnTo>
                  <a:pt x="17070" y="0"/>
                </a:lnTo>
                <a:cubicBezTo>
                  <a:pt x="17252" y="0"/>
                  <a:pt x="17400" y="148"/>
                  <a:pt x="17400" y="330"/>
                </a:cubicBezTo>
                <a:lnTo>
                  <a:pt x="17400" y="555"/>
                </a:lnTo>
                <a:lnTo>
                  <a:pt x="0" y="555"/>
                </a:lnTo>
                <a:lnTo>
                  <a:pt x="0" y="330"/>
                </a:lnTo>
                <a:cubicBezTo>
                  <a:pt x="0" y="148"/>
                  <a:pt x="148" y="0"/>
                  <a:pt x="33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685800" y="2129790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F404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838200" y="2129790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099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990600" y="2129790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AA84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0101786" y="2086947"/>
            <a:ext cx="15568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improved_ddpm.py</a:t>
            </a:r>
            <a:endParaRPr sz="120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571500" y="2362835"/>
            <a:ext cx="457200" cy="340804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20" h="5367">
                <a:moveTo>
                  <a:pt x="720" y="0"/>
                </a:moveTo>
                <a:lnTo>
                  <a:pt x="720" y="5367"/>
                </a:lnTo>
                <a:lnTo>
                  <a:pt x="330" y="5367"/>
                </a:lnTo>
                <a:cubicBezTo>
                  <a:pt x="148" y="5367"/>
                  <a:pt x="0" y="5219"/>
                  <a:pt x="0" y="5037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807396" y="2462231"/>
            <a:ext cx="27845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807396" y="2730341"/>
            <a:ext cx="27845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807396" y="2998460"/>
            <a:ext cx="27845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807396" y="3266570"/>
            <a:ext cx="27845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807396" y="3534689"/>
            <a:ext cx="27845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5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807396" y="3802799"/>
            <a:ext cx="27845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6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807396" y="4070918"/>
            <a:ext cx="27845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7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807396" y="4339028"/>
            <a:ext cx="27845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8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807396" y="4607147"/>
            <a:ext cx="27845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9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700383" y="4875257"/>
            <a:ext cx="38546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10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0"/>
            </p:custDataLst>
          </p:nvPr>
        </p:nvSpPr>
        <p:spPr>
          <a:xfrm>
            <a:off x="700383" y="5143367"/>
            <a:ext cx="38546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11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700383" y="5411486"/>
            <a:ext cx="38546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12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1143000" y="2462231"/>
            <a:ext cx="10363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import</a:t>
            </a: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torch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1143000" y="2736523"/>
            <a:ext cx="10363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import</a:t>
            </a: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torch.nn</a:t>
            </a: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as</a:t>
            </a: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nn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1143000" y="3010814"/>
            <a:ext cx="389006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# Improved DDPM with Learnable Variance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1143000" y="3285106"/>
            <a:ext cx="10363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class</a:t>
            </a:r>
            <a:r>
              <a:rPr sz="435"/>
              <a:t> </a:t>
            </a: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ImprovedDDPM</a:t>
            </a: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(nn.Module):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1365942" y="3559397"/>
            <a:ext cx="1014025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def</a:t>
            </a:r>
            <a:r>
              <a:rPr sz="435"/>
              <a:t> </a:t>
            </a: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__init__</a:t>
            </a: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(self, ...):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7"/>
            </p:custDataLst>
          </p:nvPr>
        </p:nvSpPr>
        <p:spPr>
          <a:xfrm>
            <a:off x="1143000" y="3833679"/>
            <a:ext cx="274341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self.learnable_variance =</a:t>
            </a: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True</a:t>
            </a:r>
            <a:endParaRPr sz="1350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1143000" y="4107971"/>
            <a:ext cx="211201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self.mixed_loss =</a:t>
            </a: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True</a:t>
            </a:r>
            <a:endParaRPr sz="1350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9"/>
            </p:custDataLst>
          </p:nvPr>
        </p:nvSpPr>
        <p:spPr>
          <a:xfrm>
            <a:off x="1365942" y="4382262"/>
            <a:ext cx="1014025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def</a:t>
            </a:r>
            <a:r>
              <a:rPr sz="435"/>
              <a:t> </a:t>
            </a: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forward</a:t>
            </a: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(self, x, t):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0"/>
            </p:custDataLst>
          </p:nvPr>
        </p:nvSpPr>
        <p:spPr>
          <a:xfrm>
            <a:off x="1588818" y="4656553"/>
            <a:ext cx="991738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return</a:t>
            </a: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self.predict_eps(x, t), self.v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1"/>
            </p:custDataLst>
          </p:nvPr>
        </p:nvSpPr>
        <p:spPr>
          <a:xfrm>
            <a:off x="1365942" y="4930845"/>
            <a:ext cx="1014025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def</a:t>
            </a:r>
            <a:r>
              <a:rPr sz="435"/>
              <a:t> </a:t>
            </a: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training_loss</a:t>
            </a: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(self, x_0, t):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2"/>
            </p:custDataLst>
          </p:nvPr>
        </p:nvSpPr>
        <p:spPr>
          <a:xfrm>
            <a:off x="1588818" y="5205136"/>
            <a:ext cx="991738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return</a:t>
            </a: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self.mixed_lvb_loss(x_0, t)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3"/>
            </p:custDataLst>
          </p:nvPr>
        </p:nvSpPr>
        <p:spPr>
          <a:xfrm>
            <a:off x="4810049" y="5961678"/>
            <a:ext cx="25718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可学习方差与混合损失函数实现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代码实现展示</a:t>
            </a:r>
            <a:endParaRPr sz="30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985385" y="1085215"/>
            <a:ext cx="2499360" cy="3822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85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简化配置核心代码</a:t>
            </a:r>
            <a:endParaRPr sz="2185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5193665" y="6294755"/>
            <a:ext cx="1943735" cy="1822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9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固定方差与简化损失函数实现</a:t>
            </a:r>
            <a:endParaRPr sz="109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575310" y="1560195"/>
            <a:ext cx="11040745" cy="4625975"/>
          </a:xfrm>
          <a:custGeom>
            <a:avLst/>
            <a:gdLst>
              <a:gd name="sw" fmla="*/ 1 w 19081"/>
              <a:gd name="sh" fmla="*/ 1 h 7995"/>
              <a:gd name="mins" fmla="min sw sh"/>
              <a:gd name="dsw" fmla="+- 0 sw mins"/>
              <a:gd name="dsh" fmla="+- 0 sh mins"/>
              <a:gd name="p0x0" fmla="*/ 210 w 19081"/>
              <a:gd name="p0y0" fmla="*/ 0 h 7995"/>
              <a:gd name="p0x1" fmla="*/ 18871 w 19081"/>
              <a:gd name="p0y1" fmla="*/ 0 h 7995"/>
              <a:gd name="p0x2" fmla="*/ 18987 w 19081"/>
              <a:gd name="p0y2" fmla="*/ 0 h 7995"/>
              <a:gd name="p0x3" fmla="*/ 19081 w 19081"/>
              <a:gd name="p0y3" fmla="*/ 94 h 7995"/>
              <a:gd name="p0x4" fmla="*/ 19081 w 19081"/>
              <a:gd name="p0y4" fmla="*/ 210 h 7995"/>
              <a:gd name="p0x5" fmla="*/ 19081 w 19081"/>
              <a:gd name="p0y5" fmla="*/ 7785 h 7995"/>
              <a:gd name="p0x6" fmla="*/ 19081 w 19081"/>
              <a:gd name="p0y6" fmla="*/ 7900 h 7995"/>
              <a:gd name="p0x7" fmla="*/ 18987 w 19081"/>
              <a:gd name="p0y7" fmla="*/ 7995 h 7995"/>
              <a:gd name="p0x8" fmla="*/ 18871 w 19081"/>
              <a:gd name="p0y8" fmla="*/ 7995 h 7995"/>
              <a:gd name="p0x9" fmla="*/ 210 w 19081"/>
              <a:gd name="p0y9" fmla="*/ 7995 h 7995"/>
              <a:gd name="p0x10" fmla="*/ 94 w 19081"/>
              <a:gd name="p0y10" fmla="*/ 7995 h 7995"/>
              <a:gd name="p0x11" fmla="*/ 0 w 19081"/>
              <a:gd name="p0y11" fmla="*/ 7900 h 7995"/>
              <a:gd name="p0x12" fmla="*/ 0 w 19081"/>
              <a:gd name="p0y12" fmla="*/ 7785 h 7995"/>
              <a:gd name="p0x13" fmla="*/ 0 w 19081"/>
              <a:gd name="p0y13" fmla="*/ 210 h 7995"/>
              <a:gd name="p0x14" fmla="*/ 0 w 19081"/>
              <a:gd name="p0y14" fmla="*/ 94 h 7995"/>
              <a:gd name="p0x15" fmla="*/ 94 w 19081"/>
              <a:gd name="p0y15" fmla="*/ 0 h 7995"/>
              <a:gd name="p0x16" fmla="*/ 210 w 19081"/>
              <a:gd name="p0y16" fmla="*/ 0 h 79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8679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580390" y="1564640"/>
            <a:ext cx="11031220" cy="278130"/>
            <a:chOff x="914" y="2464"/>
            <a:chExt cx="17372" cy="438"/>
          </a:xfrm>
        </p:grpSpPr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>
              <a:off x="914" y="2464"/>
              <a:ext cx="17372" cy="438"/>
            </a:xfrm>
            <a:custGeom>
              <a:avLst/>
              <a:gdLst>
                <a:gd name="sw" fmla="*/ 1 w 19066"/>
                <a:gd name="sh" fmla="*/ 1 h 480"/>
                <a:gd name="mins" fmla="min sw sh"/>
                <a:gd name="dsw" fmla="+- 0 sw mins"/>
                <a:gd name="dsh" fmla="+- 0 sh mins"/>
                <a:gd name="p0x0" fmla="*/ 0 w 19066"/>
                <a:gd name="p0y0" fmla="*/ 0 h 480"/>
                <a:gd name="p0x1" fmla="*/ 19066 w 19066"/>
                <a:gd name="p0y1" fmla="*/ 0 h 480"/>
                <a:gd name="p0x2" fmla="*/ 19066 w 19066"/>
                <a:gd name="p0y2" fmla="*/ 480 h 480"/>
                <a:gd name="p0x3" fmla="*/ 0 w 19066"/>
                <a:gd name="p0y3" fmla="*/ 480 h 480"/>
                <a:gd name="p0x4" fmla="*/ 0 w 19066"/>
                <a:gd name="p0y4" fmla="*/ 0 h 480"/>
              </a:gdLst>
              <a:ahLst/>
              <a:cxnLst/>
              <a:pathLst>
                <a:path w="17372" h="438">
                  <a:moveTo>
                    <a:pt x="191" y="0"/>
                  </a:moveTo>
                  <a:lnTo>
                    <a:pt x="17181" y="0"/>
                  </a:lnTo>
                  <a:cubicBezTo>
                    <a:pt x="17286" y="0"/>
                    <a:pt x="17372" y="86"/>
                    <a:pt x="17372" y="191"/>
                  </a:cubicBezTo>
                  <a:lnTo>
                    <a:pt x="17372" y="438"/>
                  </a:lnTo>
                  <a:lnTo>
                    <a:pt x="0" y="438"/>
                  </a:lnTo>
                  <a:lnTo>
                    <a:pt x="0" y="191"/>
                  </a:lnTo>
                  <a:cubicBezTo>
                    <a:pt x="0" y="86"/>
                    <a:pt x="86" y="0"/>
                    <a:pt x="1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6"/>
              </p:custDataLst>
            </p:nvPr>
          </p:nvSpPr>
          <p:spPr>
            <a:xfrm>
              <a:off x="914" y="2888"/>
              <a:ext cx="17372" cy="14"/>
            </a:xfrm>
            <a:custGeom>
              <a:avLst/>
              <a:gdLst>
                <a:gd name="sw" fmla="*/ 1 w 19066"/>
                <a:gd name="sh" fmla="*/ 1 h 15"/>
                <a:gd name="mins" fmla="min sw sh"/>
                <a:gd name="dsw" fmla="+- 0 sw mins"/>
                <a:gd name="dsh" fmla="+- 0 sh mins"/>
                <a:gd name="p0x0" fmla="*/ 19066 w 19066"/>
                <a:gd name="p0y0" fmla="*/ 15 h 15"/>
                <a:gd name="p0x1" fmla="*/ 0 w 19066"/>
                <a:gd name="p0y1" fmla="*/ 15 h 15"/>
                <a:gd name="p0x2" fmla="*/ 0 w 19066"/>
                <a:gd name="p0y2" fmla="*/ 0 h 15"/>
                <a:gd name="p0x3" fmla="*/ 19066 w 19066"/>
                <a:gd name="p0y3" fmla="*/ 0 h 15"/>
                <a:gd name="p0x4" fmla="*/ 19066 w 19066"/>
                <a:gd name="p0y4" fmla="*/ 15 h 15"/>
              </a:gdLst>
              <a:ahLst/>
              <a:cxnLst/>
              <a:pathLst>
                <a:path w="17372" h="14">
                  <a:moveTo>
                    <a:pt x="17372" y="0"/>
                  </a:moveTo>
                  <a:lnTo>
                    <a:pt x="17372" y="14"/>
                  </a:lnTo>
                  <a:lnTo>
                    <a:pt x="0" y="14"/>
                  </a:lnTo>
                  <a:lnTo>
                    <a:pt x="0" y="0"/>
                  </a:lnTo>
                  <a:lnTo>
                    <a:pt x="17372" y="0"/>
                  </a:lnTo>
                  <a:close/>
                </a:path>
              </a:pathLst>
            </a:custGeom>
            <a:solidFill>
              <a:srgbClr val="EFF2F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684530" y="1647190"/>
            <a:ext cx="104140" cy="10414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F404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822960" y="1647190"/>
            <a:ext cx="104140" cy="10414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0993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962025" y="1647190"/>
            <a:ext cx="104140" cy="10414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AA84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0193020" y="1608455"/>
            <a:ext cx="1453515" cy="1822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9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simplified_config.py</a:t>
            </a:r>
            <a:endParaRPr sz="109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580390" y="1842770"/>
            <a:ext cx="416560" cy="4338320"/>
            <a:chOff x="914" y="2902"/>
            <a:chExt cx="656" cy="6832"/>
          </a:xfrm>
        </p:grpSpPr>
        <p:sp>
          <p:nvSpPr>
            <p:cNvPr id="13" name="任意多边形 12"/>
            <p:cNvSpPr/>
            <p:nvPr>
              <p:custDataLst>
                <p:tags r:id="rId11"/>
              </p:custDataLst>
            </p:nvPr>
          </p:nvSpPr>
          <p:spPr>
            <a:xfrm>
              <a:off x="914" y="2902"/>
              <a:ext cx="656" cy="6833"/>
            </a:xfrm>
            <a:custGeom>
              <a:avLst/>
              <a:gdLst>
                <a:gd name="sw" fmla="*/ 1 w 720"/>
                <a:gd name="sh" fmla="*/ 1 h 7500"/>
                <a:gd name="mins" fmla="min sw sh"/>
                <a:gd name="dsw" fmla="+- 0 sw mins"/>
                <a:gd name="dsh" fmla="+- 0 sh mins"/>
                <a:gd name="p0x0" fmla="*/ 0 w 720"/>
                <a:gd name="p0y0" fmla="*/ 0 h 7500"/>
                <a:gd name="p0x1" fmla="*/ 720 w 720"/>
                <a:gd name="p0y1" fmla="*/ 0 h 7500"/>
                <a:gd name="p0x2" fmla="*/ 720 w 720"/>
                <a:gd name="p0y2" fmla="*/ 7500 h 7500"/>
                <a:gd name="p0x3" fmla="*/ 0 w 720"/>
                <a:gd name="p0y3" fmla="*/ 7500 h 7500"/>
                <a:gd name="p0x4" fmla="*/ 0 w 720"/>
                <a:gd name="p0y4" fmla="*/ 0 h 7500"/>
              </a:gdLst>
              <a:ahLst/>
              <a:cxnLst/>
              <a:pathLst>
                <a:path w="656" h="6833">
                  <a:moveTo>
                    <a:pt x="656" y="0"/>
                  </a:moveTo>
                  <a:lnTo>
                    <a:pt x="656" y="6833"/>
                  </a:lnTo>
                  <a:lnTo>
                    <a:pt x="191" y="6833"/>
                  </a:lnTo>
                  <a:cubicBezTo>
                    <a:pt x="86" y="6833"/>
                    <a:pt x="0" y="6747"/>
                    <a:pt x="0" y="66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12"/>
              </p:custDataLst>
            </p:nvPr>
          </p:nvSpPr>
          <p:spPr>
            <a:xfrm>
              <a:off x="1556" y="2902"/>
              <a:ext cx="14" cy="6833"/>
            </a:xfrm>
            <a:custGeom>
              <a:avLst/>
              <a:gdLst>
                <a:gd name="sw" fmla="*/ 1 w 15"/>
                <a:gd name="sh" fmla="*/ 1 h 7500"/>
                <a:gd name="mins" fmla="min sw sh"/>
                <a:gd name="dsw" fmla="+- 0 sw mins"/>
                <a:gd name="dsh" fmla="+- 0 sh mins"/>
                <a:gd name="p0x0" fmla="*/ 15 w 15"/>
                <a:gd name="p0y0" fmla="*/ 0 h 7500"/>
                <a:gd name="p0x1" fmla="*/ 15 w 15"/>
                <a:gd name="p0y1" fmla="*/ 7500 h 7500"/>
                <a:gd name="p0x2" fmla="*/ 0 w 15"/>
                <a:gd name="p0y2" fmla="*/ 7500 h 7500"/>
                <a:gd name="p0x3" fmla="*/ 0 w 15"/>
                <a:gd name="p0y3" fmla="*/ 0 h 7500"/>
                <a:gd name="p0x4" fmla="*/ 15 w 15"/>
                <a:gd name="p0y4" fmla="*/ 0 h 7500"/>
              </a:gdLst>
              <a:ahLst/>
              <a:cxnLst/>
              <a:pathLst>
                <a:path w="14" h="6833">
                  <a:moveTo>
                    <a:pt x="14" y="0"/>
                  </a:moveTo>
                  <a:lnTo>
                    <a:pt x="14" y="6833"/>
                  </a:lnTo>
                  <a:lnTo>
                    <a:pt x="0" y="6833"/>
                  </a:lnTo>
                  <a:lnTo>
                    <a:pt x="0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EFF2F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</p:grp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580390" y="1891030"/>
            <a:ext cx="303530" cy="42386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1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2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3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4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5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6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7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8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9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10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11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12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13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14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r">
              <a:lnSpc>
                <a:spcPct val="150000"/>
              </a:lnSpc>
            </a:pPr>
            <a:r>
              <a:rPr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15</a:t>
            </a:r>
            <a:endParaRPr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101090" y="1891030"/>
            <a:ext cx="2823845" cy="14268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230" spc="-14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import</a:t>
            </a:r>
            <a:r>
              <a:rPr sz="1230" spc="-14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torch</a:t>
            </a:r>
            <a:endParaRPr sz="1230" spc="-14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50000"/>
              </a:lnSpc>
              <a:spcAft>
                <a:spcPts val="2050"/>
              </a:spcAft>
            </a:pPr>
            <a:r>
              <a:rPr sz="1230" spc="-14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import</a:t>
            </a:r>
            <a:r>
              <a:rPr sz="1230" spc="-14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torch.nn</a:t>
            </a:r>
            <a:r>
              <a:rPr sz="1230" spc="-14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as</a:t>
            </a:r>
            <a:r>
              <a:rPr sz="1230" spc="-14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nn</a:t>
            </a:r>
            <a:endParaRPr sz="1230" spc="-14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en-US" sz="1230" spc="-14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# </a:t>
            </a:r>
            <a:r>
              <a:rPr lang="zh-CN" altLang="en-US" sz="1230" spc="-14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固定方差配置：简化噪声调度</a:t>
            </a:r>
            <a:endParaRPr lang="zh-CN" altLang="en-US" sz="1230" spc="-14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sz="1230" spc="-14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class</a:t>
            </a:r>
            <a:r>
              <a:rPr sz="400" spc="-14"/>
              <a:t> </a:t>
            </a:r>
            <a:r>
              <a:rPr sz="1230" b="1" spc="-14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SimplifiedDiffusion</a:t>
            </a:r>
            <a:r>
              <a:rPr sz="1230" spc="-14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(nn.Module):</a:t>
            </a:r>
            <a:endParaRPr sz="1230" spc="-14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1304290" y="3296920"/>
            <a:ext cx="3198495" cy="3022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23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def</a:t>
            </a:r>
            <a:r>
              <a:rPr sz="400"/>
              <a:t> </a:t>
            </a:r>
            <a:r>
              <a:rPr sz="123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__init__(self, fixed_variance=</a:t>
            </a:r>
            <a:r>
              <a:rPr sz="1230">
                <a:solidFill>
                  <a:srgbClr val="FF9900"/>
                </a:solidFill>
                <a:latin typeface="Microsoft YaHei" panose="020B0503020204020204" charset="-122"/>
                <a:ea typeface="Microsoft YaHei" panose="020B0503020204020204" charset="-122"/>
              </a:rPr>
              <a:t>0.02</a:t>
            </a:r>
            <a:r>
              <a:rPr sz="123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):</a:t>
            </a:r>
            <a:endParaRPr sz="123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101090" y="3578225"/>
            <a:ext cx="1409065" cy="3022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23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super().__init__()</a:t>
            </a:r>
            <a:endParaRPr sz="123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101090" y="3859530"/>
            <a:ext cx="2905760" cy="3016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23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self.var = fixed_variance</a:t>
            </a:r>
            <a:r>
              <a:rPr lang="en-US"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# </a:t>
            </a:r>
            <a:r>
              <a:rPr lang="zh-CN" altLang="en-US"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固定方差</a:t>
            </a:r>
            <a:endParaRPr lang="zh-CN" altLang="en-US"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1304290" y="4421505"/>
            <a:ext cx="3096895" cy="3022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23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def</a:t>
            </a:r>
            <a:r>
              <a:rPr sz="400"/>
              <a:t> </a:t>
            </a:r>
            <a:r>
              <a:rPr sz="123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simplified_loss(self, x_0, t, noise):</a:t>
            </a:r>
            <a:endParaRPr sz="123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1506855" y="4702810"/>
            <a:ext cx="3200400" cy="3022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en-US" altLang="en-US"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# </a:t>
            </a:r>
            <a:r>
              <a:rPr lang="zh-CN" altLang="en-US"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简化损失函数：</a:t>
            </a:r>
            <a:r>
              <a:rPr lang="en-US" altLang="zh-CN"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MSE </a:t>
            </a:r>
            <a:r>
              <a:rPr lang="zh-CN" altLang="en-US"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替代复杂</a:t>
            </a:r>
            <a:r>
              <a:rPr lang="en-US" altLang="zh-CN"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KL </a:t>
            </a:r>
            <a:r>
              <a:rPr lang="zh-CN" altLang="en-US" sz="123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散度</a:t>
            </a:r>
            <a:endParaRPr lang="zh-CN" altLang="en-US" sz="123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1101090" y="4984115"/>
            <a:ext cx="2771140" cy="3022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23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x_t = self.q_sample(x_0, t, noise)</a:t>
            </a:r>
            <a:endParaRPr sz="123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1506855" y="5265420"/>
            <a:ext cx="10000615" cy="3016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230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return</a:t>
            </a:r>
            <a:r>
              <a:rPr sz="123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F.mse_loss(x_t, self.predict(x_0, t))</a:t>
            </a:r>
            <a:endParaRPr sz="123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66700"/>
            <a:ext cx="4743450" cy="6324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850" y="266700"/>
            <a:ext cx="4724400" cy="629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752475"/>
            <a:ext cx="4371975" cy="58293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275" y="752475"/>
            <a:ext cx="4371975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实验与分析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实验设计</a:t>
            </a:r>
            <a:endParaRPr sz="30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"/>
            </p:custDataLst>
          </p:nvPr>
        </p:nvSpPr>
        <p:spPr>
          <a:xfrm>
            <a:off x="571500" y="2868329"/>
            <a:ext cx="11049000" cy="52892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833">
                <a:moveTo>
                  <a:pt x="330" y="0"/>
                </a:moveTo>
                <a:lnTo>
                  <a:pt x="17070" y="0"/>
                </a:lnTo>
                <a:cubicBezTo>
                  <a:pt x="17252" y="0"/>
                  <a:pt x="17400" y="148"/>
                  <a:pt x="17400" y="330"/>
                </a:cubicBezTo>
                <a:lnTo>
                  <a:pt x="17400" y="833"/>
                </a:lnTo>
                <a:lnTo>
                  <a:pt x="0" y="833"/>
                </a:lnTo>
                <a:lnTo>
                  <a:pt x="0" y="330"/>
                </a:lnTo>
                <a:cubicBezTo>
                  <a:pt x="0" y="148"/>
                  <a:pt x="148" y="0"/>
                  <a:pt x="330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"/>
            </p:custDataLst>
          </p:nvPr>
        </p:nvSpPr>
        <p:spPr>
          <a:xfrm>
            <a:off x="762000" y="2983182"/>
            <a:ext cx="232484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</a:rPr>
              <a:t>实验组</a:t>
            </a:r>
            <a:endParaRPr b="1">
              <a:solidFill>
                <a:srgbClr val="20160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4"/>
            </p:custDataLst>
          </p:nvPr>
        </p:nvSpPr>
        <p:spPr>
          <a:xfrm>
            <a:off x="3467843" y="2983182"/>
            <a:ext cx="1873891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</a:rPr>
              <a:t>噪声调度</a:t>
            </a:r>
            <a:endParaRPr b="1">
              <a:solidFill>
                <a:srgbClr val="20160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5"/>
            </p:custDataLst>
          </p:nvPr>
        </p:nvSpPr>
        <p:spPr>
          <a:xfrm>
            <a:off x="5722744" y="2983182"/>
            <a:ext cx="232484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</a:rPr>
              <a:t>训练配置</a:t>
            </a:r>
            <a:endParaRPr b="1">
              <a:solidFill>
                <a:srgbClr val="20160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6"/>
            </p:custDataLst>
          </p:nvPr>
        </p:nvSpPr>
        <p:spPr>
          <a:xfrm>
            <a:off x="8428587" y="2983182"/>
            <a:ext cx="3001413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b="1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</a:rPr>
              <a:t>说明</a:t>
            </a:r>
            <a:endParaRPr b="1">
              <a:solidFill>
                <a:srgbClr val="20160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7"/>
            </p:custDataLst>
          </p:nvPr>
        </p:nvSpPr>
        <p:spPr>
          <a:xfrm>
            <a:off x="571500" y="3397250"/>
            <a:ext cx="11049000" cy="307971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4850">
                <a:moveTo>
                  <a:pt x="17400" y="0"/>
                </a:moveTo>
                <a:lnTo>
                  <a:pt x="17400" y="4520"/>
                </a:lnTo>
                <a:cubicBezTo>
                  <a:pt x="17400" y="4702"/>
                  <a:pt x="17252" y="4850"/>
                  <a:pt x="17070" y="4850"/>
                </a:cubicBezTo>
                <a:lnTo>
                  <a:pt x="330" y="4850"/>
                </a:lnTo>
                <a:cubicBezTo>
                  <a:pt x="148" y="4850"/>
                  <a:pt x="0" y="4702"/>
                  <a:pt x="0" y="4520"/>
                </a:cubicBezTo>
                <a:lnTo>
                  <a:pt x="0" y="0"/>
                </a:lnTo>
                <a:close/>
              </a:path>
            </a:pathLst>
          </a:custGeom>
          <a:solidFill>
            <a:srgbClr val="FAFA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8" name="任意多边形 37"/>
          <p:cNvSpPr/>
          <p:nvPr>
            <p:custDataLst>
              <p:tags r:id="rId8"/>
            </p:custDataLst>
          </p:nvPr>
        </p:nvSpPr>
        <p:spPr>
          <a:xfrm>
            <a:off x="571500" y="3397250"/>
            <a:ext cx="11049000" cy="5130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808">
                <a:moveTo>
                  <a:pt x="17400" y="0"/>
                </a:moveTo>
                <a:lnTo>
                  <a:pt x="17400" y="808"/>
                </a:lnTo>
                <a:lnTo>
                  <a:pt x="0" y="808"/>
                </a:lnTo>
                <a:lnTo>
                  <a:pt x="0" y="0"/>
                </a:lnTo>
                <a:lnTo>
                  <a:pt x="17400" y="0"/>
                </a:ln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9"/>
            </p:custDataLst>
          </p:nvPr>
        </p:nvSpPr>
        <p:spPr>
          <a:xfrm>
            <a:off x="762000" y="3527898"/>
            <a:ext cx="23248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Exp-Baseline</a:t>
            </a:r>
            <a:endParaRPr sz="1500" b="1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3467843" y="3527898"/>
            <a:ext cx="187389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余弦</a:t>
            </a:r>
            <a:endParaRPr sz="150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1"/>
            </p:custDataLst>
          </p:nvPr>
        </p:nvSpPr>
        <p:spPr>
          <a:xfrm>
            <a:off x="5722744" y="3527898"/>
            <a:ext cx="23248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可学方差</a:t>
            </a:r>
            <a:r>
              <a:rPr lang="en-US" altLang="zh-CN" sz="15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+</a:t>
            </a:r>
            <a:r>
              <a:rPr lang="zh-CN" altLang="en-US" sz="15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混合损失</a:t>
            </a:r>
            <a:endParaRPr lang="zh-CN" altLang="en-US" sz="150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2"/>
            </p:custDataLst>
          </p:nvPr>
        </p:nvSpPr>
        <p:spPr>
          <a:xfrm>
            <a:off x="8428587" y="3527898"/>
            <a:ext cx="300141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完整</a:t>
            </a:r>
            <a:r>
              <a:rPr lang="en-US" altLang="zh-CN" sz="15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Improved DDPM</a:t>
            </a:r>
            <a:r>
              <a:rPr lang="zh-CN" altLang="en-US" sz="15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基准</a:t>
            </a:r>
            <a:endParaRPr lang="zh-CN" altLang="en-US" sz="150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3"/>
            </p:custDataLst>
          </p:nvPr>
        </p:nvSpPr>
        <p:spPr>
          <a:xfrm>
            <a:off x="762000" y="4041134"/>
            <a:ext cx="23248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Exp-DDPM</a:t>
            </a:r>
            <a:endParaRPr sz="15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14"/>
            </p:custDataLst>
          </p:nvPr>
        </p:nvSpPr>
        <p:spPr>
          <a:xfrm>
            <a:off x="3467843" y="4041134"/>
            <a:ext cx="187389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线性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5"/>
            </p:custDataLst>
          </p:nvPr>
        </p:nvSpPr>
        <p:spPr>
          <a:xfrm>
            <a:off x="5722744" y="4041134"/>
            <a:ext cx="23248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固定方差</a:t>
            </a:r>
            <a:r>
              <a:rPr lang="en-US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+</a:t>
            </a: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简化损失</a:t>
            </a:r>
            <a:endParaRPr lang="zh-CN" altLang="en-US"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6"/>
            </p:custDataLst>
          </p:nvPr>
        </p:nvSpPr>
        <p:spPr>
          <a:xfrm>
            <a:off x="8428587" y="4041134"/>
            <a:ext cx="300141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原始</a:t>
            </a:r>
            <a:r>
              <a:rPr lang="en-US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DDPM</a:t>
            </a: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配置</a:t>
            </a:r>
            <a:endParaRPr lang="zh-CN" altLang="en-US"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17"/>
            </p:custDataLst>
          </p:nvPr>
        </p:nvSpPr>
        <p:spPr>
          <a:xfrm>
            <a:off x="762000" y="4554369"/>
            <a:ext cx="23248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Exp-A1</a:t>
            </a:r>
            <a:endParaRPr sz="15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18"/>
            </p:custDataLst>
          </p:nvPr>
        </p:nvSpPr>
        <p:spPr>
          <a:xfrm>
            <a:off x="3467843" y="4554369"/>
            <a:ext cx="187389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线性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19"/>
            </p:custDataLst>
          </p:nvPr>
        </p:nvSpPr>
        <p:spPr>
          <a:xfrm>
            <a:off x="5722744" y="4554369"/>
            <a:ext cx="23248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固定方差</a:t>
            </a:r>
            <a:r>
              <a:rPr lang="en-US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+</a:t>
            </a: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简化损失</a:t>
            </a:r>
            <a:endParaRPr lang="zh-CN" altLang="en-US"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20"/>
            </p:custDataLst>
          </p:nvPr>
        </p:nvSpPr>
        <p:spPr>
          <a:xfrm>
            <a:off x="8428587" y="4554369"/>
            <a:ext cx="300141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线性调度简化配置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21"/>
            </p:custDataLst>
          </p:nvPr>
        </p:nvSpPr>
        <p:spPr>
          <a:xfrm>
            <a:off x="762000" y="5067595"/>
            <a:ext cx="23248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Exp-A2</a:t>
            </a:r>
            <a:endParaRPr sz="15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22"/>
            </p:custDataLst>
          </p:nvPr>
        </p:nvSpPr>
        <p:spPr>
          <a:xfrm>
            <a:off x="3467843" y="5067595"/>
            <a:ext cx="187389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余弦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23"/>
            </p:custDataLst>
          </p:nvPr>
        </p:nvSpPr>
        <p:spPr>
          <a:xfrm>
            <a:off x="5722744" y="5067595"/>
            <a:ext cx="23248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固定方差</a:t>
            </a:r>
            <a:r>
              <a:rPr lang="en-US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+</a:t>
            </a: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简化损失</a:t>
            </a:r>
            <a:endParaRPr lang="zh-CN" altLang="en-US"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24"/>
            </p:custDataLst>
          </p:nvPr>
        </p:nvSpPr>
        <p:spPr>
          <a:xfrm>
            <a:off x="8428587" y="5067595"/>
            <a:ext cx="300141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余弦调度简化配置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25"/>
            </p:custDataLst>
          </p:nvPr>
        </p:nvSpPr>
        <p:spPr>
          <a:xfrm>
            <a:off x="762000" y="5580831"/>
            <a:ext cx="23248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Exp-A3</a:t>
            </a:r>
            <a:endParaRPr sz="15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26"/>
            </p:custDataLst>
          </p:nvPr>
        </p:nvSpPr>
        <p:spPr>
          <a:xfrm>
            <a:off x="3467843" y="5580831"/>
            <a:ext cx="187389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平方根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27"/>
            </p:custDataLst>
          </p:nvPr>
        </p:nvSpPr>
        <p:spPr>
          <a:xfrm>
            <a:off x="5722744" y="5580831"/>
            <a:ext cx="23248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固定方差</a:t>
            </a:r>
            <a:r>
              <a:rPr lang="en-US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+</a:t>
            </a: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简化损失</a:t>
            </a:r>
            <a:endParaRPr lang="zh-CN" altLang="en-US"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28"/>
            </p:custDataLst>
          </p:nvPr>
        </p:nvSpPr>
        <p:spPr>
          <a:xfrm>
            <a:off x="8428587" y="5580831"/>
            <a:ext cx="300141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平方根调度简化配置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9"/>
            </p:custDataLst>
          </p:nvPr>
        </p:nvSpPr>
        <p:spPr>
          <a:xfrm>
            <a:off x="575945" y="1109345"/>
            <a:ext cx="3095625" cy="1602105"/>
          </a:xfrm>
          <a:custGeom>
            <a:avLst/>
            <a:gdLst>
              <a:gd name="sw" fmla="*/ 1 w 4875"/>
              <a:gd name="sh" fmla="*/ 1 h 2522"/>
              <a:gd name="mins" fmla="min sw sh"/>
              <a:gd name="dsw" fmla="+- 0 sw mins"/>
              <a:gd name="dsh" fmla="+- 0 sh mins"/>
              <a:gd name="p0x0" fmla="*/ 210 w 4875"/>
              <a:gd name="p0y0" fmla="*/ 0 h 2522"/>
              <a:gd name="p0x1" fmla="*/ 4665 w 4875"/>
              <a:gd name="p0y1" fmla="*/ 0 h 2522"/>
              <a:gd name="p0x2" fmla="*/ 4780 w 4875"/>
              <a:gd name="p0y2" fmla="*/ 0 h 2522"/>
              <a:gd name="p0x3" fmla="*/ 4875 w 4875"/>
              <a:gd name="p0y3" fmla="*/ 94 h 2522"/>
              <a:gd name="p0x4" fmla="*/ 4875 w 4875"/>
              <a:gd name="p0y4" fmla="*/ 210 h 2522"/>
              <a:gd name="p0x5" fmla="*/ 4875 w 4875"/>
              <a:gd name="p0y5" fmla="*/ 2312 h 2522"/>
              <a:gd name="p0x6" fmla="*/ 4875 w 4875"/>
              <a:gd name="p0y6" fmla="*/ 2428 h 2522"/>
              <a:gd name="p0x7" fmla="*/ 4780 w 4875"/>
              <a:gd name="p0y7" fmla="*/ 2522 h 2522"/>
              <a:gd name="p0x8" fmla="*/ 4665 w 4875"/>
              <a:gd name="p0y8" fmla="*/ 2522 h 2522"/>
              <a:gd name="p0x9" fmla="*/ 210 w 4875"/>
              <a:gd name="p0y9" fmla="*/ 2522 h 2522"/>
              <a:gd name="p0x10" fmla="*/ 94 w 4875"/>
              <a:gd name="p0y10" fmla="*/ 2522 h 2522"/>
              <a:gd name="p0x11" fmla="*/ 0 w 4875"/>
              <a:gd name="p0y11" fmla="*/ 2428 h 2522"/>
              <a:gd name="p0x12" fmla="*/ 0 w 4875"/>
              <a:gd name="p0y12" fmla="*/ 2312 h 2522"/>
              <a:gd name="p0x13" fmla="*/ 0 w 4875"/>
              <a:gd name="p0y13" fmla="*/ 210 h 2522"/>
              <a:gd name="p0x14" fmla="*/ 0 w 4875"/>
              <a:gd name="p0y14" fmla="*/ 94 h 2522"/>
              <a:gd name="p0x15" fmla="*/ 94 w 4875"/>
              <a:gd name="p0y15" fmla="*/ 0 h 2522"/>
              <a:gd name="p0x16" fmla="*/ 210 w 4875"/>
              <a:gd name="p0y16" fmla="*/ 0 h 25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0"/>
            </p:custDataLst>
          </p:nvPr>
        </p:nvSpPr>
        <p:spPr>
          <a:xfrm>
            <a:off x="771525" y="126746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2000" t="-7536" r="-2000" b="-7536"/>
          <a:stretch>
            <a:fillRect/>
          </a:stretch>
        </p:blipFill>
        <p:spPr>
          <a:xfrm>
            <a:off x="857250" y="1348740"/>
            <a:ext cx="247650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4"/>
            </p:custDataLst>
          </p:nvPr>
        </p:nvSpPr>
        <p:spPr>
          <a:xfrm>
            <a:off x="1304925" y="1319232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控制变量原则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5"/>
            </p:custDataLst>
          </p:nvPr>
        </p:nvSpPr>
        <p:spPr>
          <a:xfrm>
            <a:off x="771525" y="1749771"/>
            <a:ext cx="27051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所有实验共享相同的</a:t>
            </a:r>
            <a:r>
              <a:rPr lang="en-US" sz="15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U-Net</a:t>
            </a:r>
            <a:r>
              <a:rPr lang="zh-CN" altLang="en-US" sz="15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主干网络</a:t>
            </a: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、</a:t>
            </a:r>
            <a:r>
              <a:rPr lang="en-US" sz="15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AdamW</a:t>
            </a:r>
            <a:r>
              <a:rPr lang="zh-CN" altLang="en-US" sz="15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优化器</a:t>
            </a: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、学习率及训练总轮数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36"/>
            </p:custDataLst>
          </p:nvPr>
        </p:nvSpPr>
        <p:spPr>
          <a:xfrm>
            <a:off x="3871595" y="1109345"/>
            <a:ext cx="3095625" cy="1602105"/>
          </a:xfrm>
          <a:custGeom>
            <a:avLst/>
            <a:gdLst>
              <a:gd name="sw" fmla="*/ 1 w 4875"/>
              <a:gd name="sh" fmla="*/ 1 h 2522"/>
              <a:gd name="mins" fmla="min sw sh"/>
              <a:gd name="dsw" fmla="+- 0 sw mins"/>
              <a:gd name="dsh" fmla="+- 0 sh mins"/>
              <a:gd name="p0x0" fmla="*/ 210 w 4875"/>
              <a:gd name="p0y0" fmla="*/ 0 h 2522"/>
              <a:gd name="p0x1" fmla="*/ 4665 w 4875"/>
              <a:gd name="p0y1" fmla="*/ 0 h 2522"/>
              <a:gd name="p0x2" fmla="*/ 4780 w 4875"/>
              <a:gd name="p0y2" fmla="*/ 0 h 2522"/>
              <a:gd name="p0x3" fmla="*/ 4875 w 4875"/>
              <a:gd name="p0y3" fmla="*/ 94 h 2522"/>
              <a:gd name="p0x4" fmla="*/ 4875 w 4875"/>
              <a:gd name="p0y4" fmla="*/ 210 h 2522"/>
              <a:gd name="p0x5" fmla="*/ 4875 w 4875"/>
              <a:gd name="p0y5" fmla="*/ 2312 h 2522"/>
              <a:gd name="p0x6" fmla="*/ 4875 w 4875"/>
              <a:gd name="p0y6" fmla="*/ 2428 h 2522"/>
              <a:gd name="p0x7" fmla="*/ 4780 w 4875"/>
              <a:gd name="p0y7" fmla="*/ 2522 h 2522"/>
              <a:gd name="p0x8" fmla="*/ 4665 w 4875"/>
              <a:gd name="p0y8" fmla="*/ 2522 h 2522"/>
              <a:gd name="p0x9" fmla="*/ 210 w 4875"/>
              <a:gd name="p0y9" fmla="*/ 2522 h 2522"/>
              <a:gd name="p0x10" fmla="*/ 94 w 4875"/>
              <a:gd name="p0y10" fmla="*/ 2522 h 2522"/>
              <a:gd name="p0x11" fmla="*/ 0 w 4875"/>
              <a:gd name="p0y11" fmla="*/ 2428 h 2522"/>
              <a:gd name="p0x12" fmla="*/ 0 w 4875"/>
              <a:gd name="p0y12" fmla="*/ 2312 h 2522"/>
              <a:gd name="p0x13" fmla="*/ 0 w 4875"/>
              <a:gd name="p0y13" fmla="*/ 210 h 2522"/>
              <a:gd name="p0x14" fmla="*/ 0 w 4875"/>
              <a:gd name="p0y14" fmla="*/ 94 h 2522"/>
              <a:gd name="p0x15" fmla="*/ 94 w 4875"/>
              <a:gd name="p0y15" fmla="*/ 0 h 2522"/>
              <a:gd name="p0x16" fmla="*/ 210 w 4875"/>
              <a:gd name="p0y16" fmla="*/ 0 h 25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37"/>
            </p:custDataLst>
          </p:nvPr>
        </p:nvSpPr>
        <p:spPr>
          <a:xfrm>
            <a:off x="4067175" y="12738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4166870" y="1354455"/>
            <a:ext cx="219075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41"/>
            </p:custDataLst>
          </p:nvPr>
        </p:nvSpPr>
        <p:spPr>
          <a:xfrm>
            <a:off x="4600575" y="1325480"/>
            <a:ext cx="9144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数据集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42"/>
            </p:custDataLst>
          </p:nvPr>
        </p:nvSpPr>
        <p:spPr>
          <a:xfrm>
            <a:off x="4067175" y="1776095"/>
            <a:ext cx="640080" cy="235585"/>
          </a:xfrm>
          <a:custGeom>
            <a:avLst/>
            <a:gdLst>
              <a:gd name="sw" fmla="*/ 1 w 1008"/>
              <a:gd name="sh" fmla="*/ 1 h 371"/>
              <a:gd name="mins" fmla="min sw sh"/>
              <a:gd name="dsw" fmla="+- 0 sw mins"/>
              <a:gd name="dsh" fmla="+- 0 sh mins"/>
              <a:gd name="p0x0" fmla="*/ 90 w 1008"/>
              <a:gd name="p0y0" fmla="*/ 0 h 371"/>
              <a:gd name="p0x1" fmla="*/ 918 w 1008"/>
              <a:gd name="p0y1" fmla="*/ 0 h 371"/>
              <a:gd name="p0x2" fmla="*/ 968 w 1008"/>
              <a:gd name="p0y2" fmla="*/ 0 h 371"/>
              <a:gd name="p0x3" fmla="*/ 1008 w 1008"/>
              <a:gd name="p0y3" fmla="*/ 40 h 371"/>
              <a:gd name="p0x4" fmla="*/ 1008 w 1008"/>
              <a:gd name="p0y4" fmla="*/ 90 h 371"/>
              <a:gd name="p0x5" fmla="*/ 1008 w 1008"/>
              <a:gd name="p0y5" fmla="*/ 281 h 371"/>
              <a:gd name="p0x6" fmla="*/ 1008 w 1008"/>
              <a:gd name="p0y6" fmla="*/ 330 h 371"/>
              <a:gd name="p0x7" fmla="*/ 968 w 1008"/>
              <a:gd name="p0y7" fmla="*/ 371 h 371"/>
              <a:gd name="p0x8" fmla="*/ 918 w 1008"/>
              <a:gd name="p0y8" fmla="*/ 371 h 371"/>
              <a:gd name="p0x9" fmla="*/ 90 w 1008"/>
              <a:gd name="p0y9" fmla="*/ 371 h 371"/>
              <a:gd name="p0x10" fmla="*/ 40 w 1008"/>
              <a:gd name="p0y10" fmla="*/ 371 h 371"/>
              <a:gd name="p0x11" fmla="*/ 0 w 1008"/>
              <a:gd name="p0y11" fmla="*/ 330 h 371"/>
              <a:gd name="p0x12" fmla="*/ 0 w 1008"/>
              <a:gd name="p0y12" fmla="*/ 281 h 371"/>
              <a:gd name="p0x13" fmla="*/ 0 w 1008"/>
              <a:gd name="p0y13" fmla="*/ 90 h 371"/>
              <a:gd name="p0x14" fmla="*/ 0 w 1008"/>
              <a:gd name="p0y14" fmla="*/ 40 h 371"/>
              <a:gd name="p0x15" fmla="*/ 40 w 1008"/>
              <a:gd name="p0y15" fmla="*/ 0 h 371"/>
              <a:gd name="p0x16" fmla="*/ 90 w 1008"/>
              <a:gd name="p0y16" fmla="*/ 0 h 3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43"/>
            </p:custDataLst>
          </p:nvPr>
        </p:nvSpPr>
        <p:spPr>
          <a:xfrm>
            <a:off x="4143375" y="1814731"/>
            <a:ext cx="64070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MNIST</a:t>
            </a:r>
            <a:endParaRPr sz="120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44"/>
            </p:custDataLst>
          </p:nvPr>
        </p:nvSpPr>
        <p:spPr>
          <a:xfrm>
            <a:off x="4783455" y="1776095"/>
            <a:ext cx="875030" cy="235585"/>
          </a:xfrm>
          <a:custGeom>
            <a:avLst/>
            <a:gdLst>
              <a:gd name="sw" fmla="*/ 1 w 1377"/>
              <a:gd name="sh" fmla="*/ 1 h 371"/>
              <a:gd name="mins" fmla="min sw sh"/>
              <a:gd name="dsw" fmla="+- 0 sw mins"/>
              <a:gd name="dsh" fmla="+- 0 sh mins"/>
              <a:gd name="p0x0" fmla="*/ 90 w 1377"/>
              <a:gd name="p0y0" fmla="*/ 0 h 371"/>
              <a:gd name="p0x1" fmla="*/ 1287 w 1377"/>
              <a:gd name="p0y1" fmla="*/ 0 h 371"/>
              <a:gd name="p0x2" fmla="*/ 1337 w 1377"/>
              <a:gd name="p0y2" fmla="*/ 0 h 371"/>
              <a:gd name="p0x3" fmla="*/ 1377 w 1377"/>
              <a:gd name="p0y3" fmla="*/ 40 h 371"/>
              <a:gd name="p0x4" fmla="*/ 1377 w 1377"/>
              <a:gd name="p0y4" fmla="*/ 90 h 371"/>
              <a:gd name="p0x5" fmla="*/ 1377 w 1377"/>
              <a:gd name="p0y5" fmla="*/ 281 h 371"/>
              <a:gd name="p0x6" fmla="*/ 1377 w 1377"/>
              <a:gd name="p0y6" fmla="*/ 330 h 371"/>
              <a:gd name="p0x7" fmla="*/ 1337 w 1377"/>
              <a:gd name="p0y7" fmla="*/ 371 h 371"/>
              <a:gd name="p0x8" fmla="*/ 1287 w 1377"/>
              <a:gd name="p0y8" fmla="*/ 371 h 371"/>
              <a:gd name="p0x9" fmla="*/ 90 w 1377"/>
              <a:gd name="p0y9" fmla="*/ 371 h 371"/>
              <a:gd name="p0x10" fmla="*/ 40 w 1377"/>
              <a:gd name="p0y10" fmla="*/ 371 h 371"/>
              <a:gd name="p0x11" fmla="*/ 0 w 1377"/>
              <a:gd name="p0y11" fmla="*/ 330 h 371"/>
              <a:gd name="p0x12" fmla="*/ 0 w 1377"/>
              <a:gd name="p0y12" fmla="*/ 281 h 371"/>
              <a:gd name="p0x13" fmla="*/ 0 w 1377"/>
              <a:gd name="p0y13" fmla="*/ 90 h 371"/>
              <a:gd name="p0x14" fmla="*/ 0 w 1377"/>
              <a:gd name="p0y14" fmla="*/ 40 h 371"/>
              <a:gd name="p0x15" fmla="*/ 40 w 1377"/>
              <a:gd name="p0y15" fmla="*/ 0 h 371"/>
              <a:gd name="p0x16" fmla="*/ 90 w 1377"/>
              <a:gd name="p0y16" fmla="*/ 0 h 37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45"/>
            </p:custDataLst>
          </p:nvPr>
        </p:nvSpPr>
        <p:spPr>
          <a:xfrm>
            <a:off x="4860284" y="1814731"/>
            <a:ext cx="87495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CIFAR-10</a:t>
            </a:r>
            <a:endParaRPr sz="120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46"/>
            </p:custDataLst>
          </p:nvPr>
        </p:nvSpPr>
        <p:spPr>
          <a:xfrm>
            <a:off x="4067175" y="2126532"/>
            <a:ext cx="27051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MNIST</a:t>
            </a:r>
            <a:r>
              <a:rPr lang="zh-CN" altLang="en-US"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用于初步验证，</a:t>
            </a:r>
            <a:r>
              <a:rPr lang="en-US" altLang="zh-CN"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CIFAR-10</a:t>
            </a:r>
            <a:r>
              <a:rPr lang="zh-CN" altLang="en-US"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为主要结论来源</a:t>
            </a:r>
            <a:endParaRPr lang="zh-CN" altLang="en-US"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47"/>
            </p:custDataLst>
          </p:nvPr>
        </p:nvSpPr>
        <p:spPr>
          <a:xfrm>
            <a:off x="7167245" y="1109345"/>
            <a:ext cx="4448175" cy="1602105"/>
          </a:xfrm>
          <a:custGeom>
            <a:avLst/>
            <a:gdLst>
              <a:gd name="sw" fmla="*/ 1 w 7005"/>
              <a:gd name="sh" fmla="*/ 1 h 2522"/>
              <a:gd name="mins" fmla="min sw sh"/>
              <a:gd name="dsw" fmla="+- 0 sw mins"/>
              <a:gd name="dsh" fmla="+- 0 sh mins"/>
              <a:gd name="p0x0" fmla="*/ 210 w 7005"/>
              <a:gd name="p0y0" fmla="*/ 0 h 2522"/>
              <a:gd name="p0x1" fmla="*/ 6795 w 7005"/>
              <a:gd name="p0y1" fmla="*/ 0 h 2522"/>
              <a:gd name="p0x2" fmla="*/ 6910 w 7005"/>
              <a:gd name="p0y2" fmla="*/ 0 h 2522"/>
              <a:gd name="p0x3" fmla="*/ 7005 w 7005"/>
              <a:gd name="p0y3" fmla="*/ 94 h 2522"/>
              <a:gd name="p0x4" fmla="*/ 7005 w 7005"/>
              <a:gd name="p0y4" fmla="*/ 210 h 2522"/>
              <a:gd name="p0x5" fmla="*/ 7005 w 7005"/>
              <a:gd name="p0y5" fmla="*/ 2312 h 2522"/>
              <a:gd name="p0x6" fmla="*/ 7005 w 7005"/>
              <a:gd name="p0y6" fmla="*/ 2428 h 2522"/>
              <a:gd name="p0x7" fmla="*/ 6910 w 7005"/>
              <a:gd name="p0y7" fmla="*/ 2522 h 2522"/>
              <a:gd name="p0x8" fmla="*/ 6795 w 7005"/>
              <a:gd name="p0y8" fmla="*/ 2522 h 2522"/>
              <a:gd name="p0x9" fmla="*/ 210 w 7005"/>
              <a:gd name="p0y9" fmla="*/ 2522 h 2522"/>
              <a:gd name="p0x10" fmla="*/ 94 w 7005"/>
              <a:gd name="p0y10" fmla="*/ 2522 h 2522"/>
              <a:gd name="p0x11" fmla="*/ 0 w 7005"/>
              <a:gd name="p0y11" fmla="*/ 2428 h 2522"/>
              <a:gd name="p0x12" fmla="*/ 0 w 7005"/>
              <a:gd name="p0y12" fmla="*/ 2312 h 2522"/>
              <a:gd name="p0x13" fmla="*/ 0 w 7005"/>
              <a:gd name="p0y13" fmla="*/ 210 h 2522"/>
              <a:gd name="p0x14" fmla="*/ 0 w 7005"/>
              <a:gd name="p0y14" fmla="*/ 94 h 2522"/>
              <a:gd name="p0x15" fmla="*/ 94 w 7005"/>
              <a:gd name="p0y15" fmla="*/ 0 h 2522"/>
              <a:gd name="p0x16" fmla="*/ 210 w 7005"/>
              <a:gd name="p0y16" fmla="*/ 0 h 25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48"/>
            </p:custDataLst>
          </p:nvPr>
        </p:nvSpPr>
        <p:spPr>
          <a:xfrm>
            <a:off x="7362825" y="12541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7448550" y="1334770"/>
            <a:ext cx="247650" cy="25273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52"/>
            </p:custDataLst>
          </p:nvPr>
        </p:nvSpPr>
        <p:spPr>
          <a:xfrm>
            <a:off x="7896225" y="1305611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评估指标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53"/>
            </p:custDataLst>
          </p:nvPr>
        </p:nvSpPr>
        <p:spPr>
          <a:xfrm>
            <a:off x="7362825" y="1720005"/>
            <a:ext cx="4026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FID</a:t>
            </a:r>
            <a:endParaRPr sz="1200" b="1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54"/>
            </p:custDataLst>
          </p:nvPr>
        </p:nvSpPr>
        <p:spPr>
          <a:xfrm>
            <a:off x="7689276" y="1705718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生成质量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55"/>
            </p:custDataLst>
          </p:nvPr>
        </p:nvSpPr>
        <p:spPr>
          <a:xfrm>
            <a:off x="8451352" y="1731912"/>
            <a:ext cx="84348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0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↓ </a:t>
            </a:r>
            <a:r>
              <a:rPr lang="zh-CN" sz="10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越低越好</a:t>
            </a:r>
            <a:endParaRPr lang="zh-CN" sz="10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56"/>
            </p:custDataLst>
          </p:nvPr>
        </p:nvSpPr>
        <p:spPr>
          <a:xfrm>
            <a:off x="7362825" y="1924421"/>
            <a:ext cx="5732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PSNR</a:t>
            </a:r>
            <a:endParaRPr sz="1200" b="1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57"/>
            </p:custDataLst>
          </p:nvPr>
        </p:nvSpPr>
        <p:spPr>
          <a:xfrm>
            <a:off x="7859840" y="1910134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生成质量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58"/>
            </p:custDataLst>
          </p:nvPr>
        </p:nvSpPr>
        <p:spPr>
          <a:xfrm>
            <a:off x="8621916" y="1936328"/>
            <a:ext cx="84348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0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↑ </a:t>
            </a:r>
            <a:r>
              <a:rPr lang="zh-CN" sz="10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越高越好</a:t>
            </a:r>
            <a:endParaRPr lang="zh-CN" sz="10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59"/>
            </p:custDataLst>
          </p:nvPr>
        </p:nvSpPr>
        <p:spPr>
          <a:xfrm>
            <a:off x="7362825" y="2128838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效率</a:t>
            </a:r>
            <a:endParaRPr sz="1200" b="1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60"/>
            </p:custDataLst>
          </p:nvPr>
        </p:nvSpPr>
        <p:spPr>
          <a:xfrm>
            <a:off x="7743901" y="2114550"/>
            <a:ext cx="18860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训练总时间、采样时间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61"/>
            </p:custDataLst>
          </p:nvPr>
        </p:nvSpPr>
        <p:spPr>
          <a:xfrm>
            <a:off x="7362825" y="2333254"/>
            <a:ext cx="6096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稳定性</a:t>
            </a:r>
            <a:endParaRPr sz="1200" b="1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62"/>
            </p:custDataLst>
          </p:nvPr>
        </p:nvSpPr>
        <p:spPr>
          <a:xfrm>
            <a:off x="7896301" y="2318966"/>
            <a:ext cx="1585617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最后</a:t>
            </a:r>
            <a:r>
              <a:rPr lang="en-US" altLang="zh-CN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50</a:t>
            </a:r>
            <a:r>
              <a:rPr lang="zh-CN" altLang="en-US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轮损失方差</a:t>
            </a:r>
            <a:endParaRPr lang="zh-CN" altLang="en-US"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噪声调度策略对比</a:t>
            </a:r>
            <a:endParaRPr sz="30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"/>
            </p:custDataLst>
          </p:nvPr>
        </p:nvSpPr>
        <p:spPr>
          <a:xfrm>
            <a:off x="6879879" y="5943524"/>
            <a:ext cx="4629226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补充观察：余弦与平方根调度的生成样本在视觉质量上难以区分，均优于线性调度的模糊与结构失真。</a:t>
            </a:r>
            <a:endParaRPr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5945" y="1109345"/>
            <a:ext cx="5920740" cy="5362575"/>
          </a:xfrm>
          <a:custGeom>
            <a:avLst/>
            <a:gdLst>
              <a:gd name="sw" fmla="*/ 1 w 9324"/>
              <a:gd name="sh" fmla="*/ 1 h 8445"/>
              <a:gd name="mins" fmla="min sw sh"/>
              <a:gd name="dsw" fmla="+- 0 sw mins"/>
              <a:gd name="dsh" fmla="+- 0 sh mins"/>
              <a:gd name="p0x0" fmla="*/ 210 w 9324"/>
              <a:gd name="p0y0" fmla="*/ 0 h 8445"/>
              <a:gd name="p0x1" fmla="*/ 9114 w 9324"/>
              <a:gd name="p0y1" fmla="*/ 0 h 8445"/>
              <a:gd name="p0x2" fmla="*/ 9230 w 9324"/>
              <a:gd name="p0y2" fmla="*/ 0 h 8445"/>
              <a:gd name="p0x3" fmla="*/ 9324 w 9324"/>
              <a:gd name="p0y3" fmla="*/ 94 h 8445"/>
              <a:gd name="p0x4" fmla="*/ 9324 w 9324"/>
              <a:gd name="p0y4" fmla="*/ 210 h 8445"/>
              <a:gd name="p0x5" fmla="*/ 9324 w 9324"/>
              <a:gd name="p0y5" fmla="*/ 8235 h 8445"/>
              <a:gd name="p0x6" fmla="*/ 9324 w 9324"/>
              <a:gd name="p0y6" fmla="*/ 8350 h 8445"/>
              <a:gd name="p0x7" fmla="*/ 9230 w 9324"/>
              <a:gd name="p0y7" fmla="*/ 8445 h 8445"/>
              <a:gd name="p0x8" fmla="*/ 9114 w 9324"/>
              <a:gd name="p0y8" fmla="*/ 8445 h 8445"/>
              <a:gd name="p0x9" fmla="*/ 210 w 9324"/>
              <a:gd name="p0y9" fmla="*/ 8445 h 8445"/>
              <a:gd name="p0x10" fmla="*/ 94 w 9324"/>
              <a:gd name="p0y10" fmla="*/ 8445 h 8445"/>
              <a:gd name="p0x11" fmla="*/ 0 w 9324"/>
              <a:gd name="p0y11" fmla="*/ 8350 h 8445"/>
              <a:gd name="p0x12" fmla="*/ 0 w 9324"/>
              <a:gd name="p0y12" fmla="*/ 8235 h 8445"/>
              <a:gd name="p0x13" fmla="*/ 0 w 9324"/>
              <a:gd name="p0y13" fmla="*/ 210 h 8445"/>
              <a:gd name="p0x14" fmla="*/ 0 w 9324"/>
              <a:gd name="p0y14" fmla="*/ 94 h 8445"/>
              <a:gd name="p0x15" fmla="*/ 94 w 9324"/>
              <a:gd name="p0y15" fmla="*/ 0 h 8445"/>
              <a:gd name="p0x16" fmla="*/ 210 w 932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71525" y="1288732"/>
            <a:ext cx="55302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FID</a:t>
            </a:r>
            <a:r>
              <a:rPr lang="zh-CN" sz="21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性能对比</a:t>
            </a:r>
            <a:endParaRPr lang="zh-CN" sz="21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598343" y="6076950"/>
            <a:ext cx="387652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20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误差范围：±</a:t>
            </a:r>
            <a:r>
              <a:rPr lang="en-US" altLang="zh-CN" sz="120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0.15~0.21 | </a:t>
            </a:r>
            <a:r>
              <a:rPr lang="zh-CN" altLang="en-US" sz="120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数值越低表示生成质量越好</a:t>
            </a:r>
            <a:endParaRPr lang="zh-CN" altLang="en-US" sz="120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pic>
        <p:nvPicPr>
          <p:cNvPr id="6" name="图片 5"/>
          <p:cNvPicPr/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71525" y="1752600"/>
            <a:ext cx="5534025" cy="42100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  <p:sp>
        <p:nvSpPr>
          <p:cNvPr id="9" name="任意多边形 8"/>
          <p:cNvSpPr/>
          <p:nvPr>
            <p:custDataLst>
              <p:tags r:id="rId8"/>
            </p:custDataLst>
          </p:nvPr>
        </p:nvSpPr>
        <p:spPr>
          <a:xfrm>
            <a:off x="6772910" y="1109345"/>
            <a:ext cx="4842510" cy="1387475"/>
          </a:xfrm>
          <a:custGeom>
            <a:avLst/>
            <a:gdLst>
              <a:gd name="sw" fmla="*/ 1 w 7625"/>
              <a:gd name="sh" fmla="*/ 1 h 2184"/>
              <a:gd name="mins" fmla="min sw sh"/>
              <a:gd name="dsw" fmla="+- 0 sw mins"/>
              <a:gd name="dsh" fmla="+- 0 sh mins"/>
              <a:gd name="p0x0" fmla="*/ 210 w 7625"/>
              <a:gd name="p0y0" fmla="*/ 0 h 2184"/>
              <a:gd name="p0x1" fmla="*/ 7415 w 7625"/>
              <a:gd name="p0y1" fmla="*/ 0 h 2184"/>
              <a:gd name="p0x2" fmla="*/ 7531 w 7625"/>
              <a:gd name="p0y2" fmla="*/ 0 h 2184"/>
              <a:gd name="p0x3" fmla="*/ 7625 w 7625"/>
              <a:gd name="p0y3" fmla="*/ 94 h 2184"/>
              <a:gd name="p0x4" fmla="*/ 7625 w 7625"/>
              <a:gd name="p0y4" fmla="*/ 210 h 2184"/>
              <a:gd name="p0x5" fmla="*/ 7625 w 7625"/>
              <a:gd name="p0y5" fmla="*/ 1974 h 2184"/>
              <a:gd name="p0x6" fmla="*/ 7625 w 7625"/>
              <a:gd name="p0y6" fmla="*/ 2090 h 2184"/>
              <a:gd name="p0x7" fmla="*/ 7531 w 7625"/>
              <a:gd name="p0y7" fmla="*/ 2184 h 2184"/>
              <a:gd name="p0x8" fmla="*/ 7415 w 7625"/>
              <a:gd name="p0y8" fmla="*/ 2184 h 2184"/>
              <a:gd name="p0x9" fmla="*/ 210 w 7625"/>
              <a:gd name="p0y9" fmla="*/ 2184 h 2184"/>
              <a:gd name="p0x10" fmla="*/ 94 w 7625"/>
              <a:gd name="p0y10" fmla="*/ 2184 h 2184"/>
              <a:gd name="p0x11" fmla="*/ 0 w 7625"/>
              <a:gd name="p0y11" fmla="*/ 2090 h 2184"/>
              <a:gd name="p0x12" fmla="*/ 0 w 7625"/>
              <a:gd name="p0y12" fmla="*/ 1974 h 2184"/>
              <a:gd name="p0x13" fmla="*/ 0 w 7625"/>
              <a:gd name="p0y13" fmla="*/ 210 h 2184"/>
              <a:gd name="p0x14" fmla="*/ 0 w 7625"/>
              <a:gd name="p0y14" fmla="*/ 94 h 2184"/>
              <a:gd name="p0x15" fmla="*/ 94 w 7625"/>
              <a:gd name="p0y15" fmla="*/ 0 h 2184"/>
              <a:gd name="p0x16" fmla="*/ 210 w 7625"/>
              <a:gd name="p0y16" fmla="*/ 0 h 2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9"/>
            </p:custDataLst>
          </p:nvPr>
        </p:nvSpPr>
        <p:spPr>
          <a:xfrm>
            <a:off x="6968490" y="12750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7054215" y="1355725"/>
            <a:ext cx="247650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3"/>
            </p:custDataLst>
          </p:nvPr>
        </p:nvSpPr>
        <p:spPr>
          <a:xfrm>
            <a:off x="7501909" y="1326594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余弦调度最优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4"/>
            </p:custDataLst>
          </p:nvPr>
        </p:nvSpPr>
        <p:spPr>
          <a:xfrm>
            <a:off x="6968509" y="1764506"/>
            <a:ext cx="44519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FID</a:t>
            </a:r>
            <a:r>
              <a:rPr 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达</a:t>
            </a:r>
            <a:r>
              <a:rPr sz="15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9.85</a:t>
            </a: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，为三种策略中最佳，证实余弦衰减在扩散模型训练中的设计优势。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5"/>
            </p:custDataLst>
          </p:nvPr>
        </p:nvSpPr>
        <p:spPr>
          <a:xfrm>
            <a:off x="6772910" y="2696845"/>
            <a:ext cx="4842510" cy="1387475"/>
          </a:xfrm>
          <a:custGeom>
            <a:avLst/>
            <a:gdLst>
              <a:gd name="sw" fmla="*/ 1 w 7625"/>
              <a:gd name="sh" fmla="*/ 1 h 2184"/>
              <a:gd name="mins" fmla="min sw sh"/>
              <a:gd name="dsw" fmla="+- 0 sw mins"/>
              <a:gd name="dsh" fmla="+- 0 sh mins"/>
              <a:gd name="p0x0" fmla="*/ 210 w 7625"/>
              <a:gd name="p0y0" fmla="*/ 0 h 2184"/>
              <a:gd name="p0x1" fmla="*/ 7415 w 7625"/>
              <a:gd name="p0y1" fmla="*/ 0 h 2184"/>
              <a:gd name="p0x2" fmla="*/ 7531 w 7625"/>
              <a:gd name="p0y2" fmla="*/ 0 h 2184"/>
              <a:gd name="p0x3" fmla="*/ 7625 w 7625"/>
              <a:gd name="p0y3" fmla="*/ 94 h 2184"/>
              <a:gd name="p0x4" fmla="*/ 7625 w 7625"/>
              <a:gd name="p0y4" fmla="*/ 210 h 2184"/>
              <a:gd name="p0x5" fmla="*/ 7625 w 7625"/>
              <a:gd name="p0y5" fmla="*/ 1974 h 2184"/>
              <a:gd name="p0x6" fmla="*/ 7625 w 7625"/>
              <a:gd name="p0y6" fmla="*/ 2090 h 2184"/>
              <a:gd name="p0x7" fmla="*/ 7531 w 7625"/>
              <a:gd name="p0y7" fmla="*/ 2184 h 2184"/>
              <a:gd name="p0x8" fmla="*/ 7415 w 7625"/>
              <a:gd name="p0y8" fmla="*/ 2184 h 2184"/>
              <a:gd name="p0x9" fmla="*/ 210 w 7625"/>
              <a:gd name="p0y9" fmla="*/ 2184 h 2184"/>
              <a:gd name="p0x10" fmla="*/ 94 w 7625"/>
              <a:gd name="p0y10" fmla="*/ 2184 h 2184"/>
              <a:gd name="p0x11" fmla="*/ 0 w 7625"/>
              <a:gd name="p0y11" fmla="*/ 2090 h 2184"/>
              <a:gd name="p0x12" fmla="*/ 0 w 7625"/>
              <a:gd name="p0y12" fmla="*/ 1974 h 2184"/>
              <a:gd name="p0x13" fmla="*/ 0 w 7625"/>
              <a:gd name="p0y13" fmla="*/ 210 h 2184"/>
              <a:gd name="p0x14" fmla="*/ 0 w 7625"/>
              <a:gd name="p0y14" fmla="*/ 94 h 2184"/>
              <a:gd name="p0x15" fmla="*/ 94 w 7625"/>
              <a:gd name="p0y15" fmla="*/ 0 h 2184"/>
              <a:gd name="p0x16" fmla="*/ 210 w 7625"/>
              <a:gd name="p0y16" fmla="*/ 0 h 2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C000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6"/>
            </p:custDataLst>
          </p:nvPr>
        </p:nvSpPr>
        <p:spPr>
          <a:xfrm>
            <a:off x="6968490" y="28625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l="-2273" t="-97407" r="-2273" b="-97407"/>
          <a:stretch>
            <a:fillRect/>
          </a:stretch>
        </p:blipFill>
        <p:spPr>
          <a:xfrm>
            <a:off x="7068185" y="2943225"/>
            <a:ext cx="219075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0"/>
            </p:custDataLst>
          </p:nvPr>
        </p:nvSpPr>
        <p:spPr>
          <a:xfrm>
            <a:off x="7501909" y="2914069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</a:rPr>
              <a:t>平方根极为接近</a:t>
            </a:r>
            <a:endParaRPr b="1">
              <a:solidFill>
                <a:srgbClr val="20160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1"/>
            </p:custDataLst>
          </p:nvPr>
        </p:nvSpPr>
        <p:spPr>
          <a:xfrm>
            <a:off x="6968509" y="3351981"/>
            <a:ext cx="44519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FID</a:t>
            </a:r>
            <a:r>
              <a:rPr lang="zh-CN" sz="1500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仅</a:t>
            </a:r>
            <a:r>
              <a:rPr sz="1500" b="1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</a:rPr>
              <a:t>10.29</a:t>
            </a:r>
            <a:r>
              <a:rPr sz="1500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</a:rPr>
              <a:t>，与余弦差异仅</a:t>
            </a:r>
            <a:r>
              <a:rPr sz="1500" b="1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</a:rPr>
              <a:t>4.5%</a:t>
            </a:r>
            <a:r>
              <a:rPr lang="zh-CN" sz="1500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，且明显优于线性调度（</a:t>
            </a:r>
            <a:r>
              <a:rPr lang="en-US" altLang="zh-CN" sz="1500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12.37</a:t>
            </a:r>
            <a:r>
              <a:rPr lang="zh-CN" altLang="en-US" sz="1500">
                <a:solidFill>
                  <a:srgbClr val="20160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），是性价比极高的替代方案。</a:t>
            </a:r>
            <a:endParaRPr lang="zh-CN" altLang="en-US" sz="1500">
              <a:solidFill>
                <a:srgbClr val="20160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2"/>
            </p:custDataLst>
          </p:nvPr>
        </p:nvSpPr>
        <p:spPr>
          <a:xfrm>
            <a:off x="6772910" y="4284345"/>
            <a:ext cx="4842510" cy="1387475"/>
          </a:xfrm>
          <a:custGeom>
            <a:avLst/>
            <a:gdLst>
              <a:gd name="sw" fmla="*/ 1 w 7625"/>
              <a:gd name="sh" fmla="*/ 1 h 2184"/>
              <a:gd name="mins" fmla="min sw sh"/>
              <a:gd name="dsw" fmla="+- 0 sw mins"/>
              <a:gd name="dsh" fmla="+- 0 sh mins"/>
              <a:gd name="p0x0" fmla="*/ 210 w 7625"/>
              <a:gd name="p0y0" fmla="*/ 0 h 2184"/>
              <a:gd name="p0x1" fmla="*/ 7415 w 7625"/>
              <a:gd name="p0y1" fmla="*/ 0 h 2184"/>
              <a:gd name="p0x2" fmla="*/ 7531 w 7625"/>
              <a:gd name="p0y2" fmla="*/ 0 h 2184"/>
              <a:gd name="p0x3" fmla="*/ 7625 w 7625"/>
              <a:gd name="p0y3" fmla="*/ 94 h 2184"/>
              <a:gd name="p0x4" fmla="*/ 7625 w 7625"/>
              <a:gd name="p0y4" fmla="*/ 210 h 2184"/>
              <a:gd name="p0x5" fmla="*/ 7625 w 7625"/>
              <a:gd name="p0y5" fmla="*/ 1974 h 2184"/>
              <a:gd name="p0x6" fmla="*/ 7625 w 7625"/>
              <a:gd name="p0y6" fmla="*/ 2090 h 2184"/>
              <a:gd name="p0x7" fmla="*/ 7531 w 7625"/>
              <a:gd name="p0y7" fmla="*/ 2184 h 2184"/>
              <a:gd name="p0x8" fmla="*/ 7415 w 7625"/>
              <a:gd name="p0y8" fmla="*/ 2184 h 2184"/>
              <a:gd name="p0x9" fmla="*/ 210 w 7625"/>
              <a:gd name="p0y9" fmla="*/ 2184 h 2184"/>
              <a:gd name="p0x10" fmla="*/ 94 w 7625"/>
              <a:gd name="p0y10" fmla="*/ 2184 h 2184"/>
              <a:gd name="p0x11" fmla="*/ 0 w 7625"/>
              <a:gd name="p0y11" fmla="*/ 2090 h 2184"/>
              <a:gd name="p0x12" fmla="*/ 0 w 7625"/>
              <a:gd name="p0y12" fmla="*/ 1974 h 2184"/>
              <a:gd name="p0x13" fmla="*/ 0 w 7625"/>
              <a:gd name="p0y13" fmla="*/ 210 h 2184"/>
              <a:gd name="p0x14" fmla="*/ 0 w 7625"/>
              <a:gd name="p0y14" fmla="*/ 94 h 2184"/>
              <a:gd name="p0x15" fmla="*/ 94 w 7625"/>
              <a:gd name="p0y15" fmla="*/ 0 h 2184"/>
              <a:gd name="p0x16" fmla="*/ 210 w 7625"/>
              <a:gd name="p0y16" fmla="*/ 0 h 218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3"/>
            </p:custDataLst>
          </p:nvPr>
        </p:nvSpPr>
        <p:spPr>
          <a:xfrm>
            <a:off x="6968490" y="440880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7054215" y="4489450"/>
            <a:ext cx="247650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7"/>
            </p:custDataLst>
          </p:nvPr>
        </p:nvSpPr>
        <p:spPr>
          <a:xfrm>
            <a:off x="7501909" y="4460462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训练稳定性更优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8"/>
            </p:custDataLst>
          </p:nvPr>
        </p:nvSpPr>
        <p:spPr>
          <a:xfrm>
            <a:off x="6968509" y="4857302"/>
            <a:ext cx="4451966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余弦与平方根方差分别为</a:t>
            </a:r>
            <a:r>
              <a:rPr lang="en-US" sz="15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5.23</a:t>
            </a:r>
            <a:r>
              <a:rPr lang="zh-CN" altLang="en-US" sz="15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×</a:t>
            </a:r>
            <a:r>
              <a:rPr lang="en-US" altLang="zh-CN" sz="15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10⁻⁴</a:t>
            </a: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与</a:t>
            </a:r>
            <a:r>
              <a:rPr lang="en-US" sz="15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5.47</a:t>
            </a:r>
            <a:r>
              <a:rPr lang="zh-CN" altLang="en-US" sz="15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×</a:t>
            </a:r>
            <a:r>
              <a:rPr lang="en-US" altLang="zh-CN" sz="15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10⁻⁴</a:t>
            </a:r>
            <a:r>
              <a:rPr lang="zh-CN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，远低于线性的</a:t>
            </a:r>
            <a:r>
              <a:rPr lang="en-US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6.81</a:t>
            </a: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×</a:t>
            </a:r>
            <a:r>
              <a:rPr lang="en-US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10⁻⁴</a:t>
            </a: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；可视化样本细节与结构一致性均更优。</a:t>
            </a:r>
            <a:endParaRPr lang="zh-CN" altLang="en-US"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训练配置简化验证</a:t>
            </a:r>
            <a:endParaRPr sz="30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626519" y="1925079"/>
            <a:ext cx="1966846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54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9.2</a:t>
            </a:r>
            <a:r>
              <a:rPr sz="21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%</a:t>
            </a:r>
            <a:endParaRPr sz="2100" b="1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622128" y="2744181"/>
            <a:ext cx="1518418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FID</a:t>
            </a:r>
            <a:r>
              <a:rPr lang="zh-CN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性能代价</a:t>
            </a:r>
            <a:endParaRPr lang="zh-CN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809674" y="3068031"/>
            <a:ext cx="29147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可学习方差与混合损失的有效性验证</a:t>
            </a:r>
            <a:endParaRPr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2885440" y="3509645"/>
            <a:ext cx="762000" cy="19050"/>
          </a:xfrm>
          <a:prstGeom prst="rect">
            <a:avLst/>
          </a:prstGeom>
          <a:solidFill>
            <a:srgbClr val="FAFA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2716330" y="3639503"/>
            <a:ext cx="1787128" cy="8362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54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16</a:t>
            </a:r>
            <a:r>
              <a:rPr sz="21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%</a:t>
            </a:r>
            <a:endParaRPr sz="2100" b="1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2581199" y="4458605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训练时间节省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2021157" y="4782455"/>
            <a:ext cx="24917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避免</a:t>
            </a:r>
            <a:r>
              <a:rPr lang="en-US" altLang="zh-CN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L_vlb</a:t>
            </a:r>
            <a:r>
              <a:rPr lang="zh-CN" altLang="en-US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计算与梯度更新开销</a:t>
            </a:r>
            <a:endParaRPr lang="zh-CN" altLang="en-US"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1493520" y="5262245"/>
            <a:ext cx="3545840" cy="352425"/>
          </a:xfrm>
          <a:custGeom>
            <a:avLst/>
            <a:gdLst>
              <a:gd name="sw" fmla="*/ 1 w 5584"/>
              <a:gd name="sh" fmla="*/ 1 h 555"/>
              <a:gd name="mins" fmla="min sw sh"/>
              <a:gd name="dsw" fmla="+- 0 sw mins"/>
              <a:gd name="dsh" fmla="+- 0 sh mins"/>
              <a:gd name="p0x0" fmla="*/ 210 w 5584"/>
              <a:gd name="p0y0" fmla="*/ 0 h 555"/>
              <a:gd name="p0x1" fmla="*/ 5374 w 5584"/>
              <a:gd name="p0y1" fmla="*/ 0 h 555"/>
              <a:gd name="p0x2" fmla="*/ 5490 w 5584"/>
              <a:gd name="p0y2" fmla="*/ 0 h 555"/>
              <a:gd name="p0x3" fmla="*/ 5584 w 5584"/>
              <a:gd name="p0y3" fmla="*/ 94 h 555"/>
              <a:gd name="p0x4" fmla="*/ 5584 w 5584"/>
              <a:gd name="p0y4" fmla="*/ 210 h 555"/>
              <a:gd name="p0x5" fmla="*/ 5584 w 5584"/>
              <a:gd name="p0y5" fmla="*/ 345 h 555"/>
              <a:gd name="p0x6" fmla="*/ 5584 w 5584"/>
              <a:gd name="p0y6" fmla="*/ 460 h 555"/>
              <a:gd name="p0x7" fmla="*/ 5490 w 5584"/>
              <a:gd name="p0y7" fmla="*/ 555 h 555"/>
              <a:gd name="p0x8" fmla="*/ 5374 w 5584"/>
              <a:gd name="p0y8" fmla="*/ 555 h 555"/>
              <a:gd name="p0x9" fmla="*/ 210 w 5584"/>
              <a:gd name="p0y9" fmla="*/ 555 h 555"/>
              <a:gd name="p0x10" fmla="*/ 94 w 5584"/>
              <a:gd name="p0y10" fmla="*/ 555 h 555"/>
              <a:gd name="p0x11" fmla="*/ 0 w 5584"/>
              <a:gd name="p0y11" fmla="*/ 460 h 555"/>
              <a:gd name="p0x12" fmla="*/ 0 w 5584"/>
              <a:gd name="p0y12" fmla="*/ 345 h 555"/>
              <a:gd name="p0x13" fmla="*/ 0 w 5584"/>
              <a:gd name="p0y13" fmla="*/ 210 h 555"/>
              <a:gd name="p0x14" fmla="*/ 0 w 5584"/>
              <a:gd name="p0y14" fmla="*/ 94 h 555"/>
              <a:gd name="p0x15" fmla="*/ 94 w 5584"/>
              <a:gd name="p0y15" fmla="*/ 0 h 555"/>
              <a:gd name="p0x16" fmla="*/ 210 w 5584"/>
              <a:gd name="p0y16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646482" y="5338686"/>
            <a:ext cx="35459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Exp-Baseline vs Exp-A2 · </a:t>
            </a:r>
            <a:r>
              <a:rPr lang="zh-CN" sz="120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固定余弦噪声调度</a:t>
            </a:r>
            <a:endParaRPr lang="zh-CN" sz="120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6229350" y="16891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000" t="-10152" r="-2000" b="-10152"/>
          <a:stretch>
            <a:fillRect/>
          </a:stretch>
        </p:blipFill>
        <p:spPr>
          <a:xfrm>
            <a:off x="6315075" y="1770380"/>
            <a:ext cx="247650" cy="25209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5"/>
            </p:custDataLst>
          </p:nvPr>
        </p:nvSpPr>
        <p:spPr>
          <a:xfrm>
            <a:off x="6800850" y="1569701"/>
            <a:ext cx="48196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FID</a:t>
            </a:r>
            <a:r>
              <a:rPr lang="zh-CN" altLang="en-US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上升约</a:t>
            </a:r>
            <a:r>
              <a:rPr lang="en-US" altLang="zh-CN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9.2%</a:t>
            </a:r>
            <a:endParaRPr lang="en-US" altLang="zh-CN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6800850" y="1894503"/>
            <a:ext cx="48196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证实可学习方差与混合损失对极限性能的有效性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7"/>
            </p:custDataLst>
          </p:nvPr>
        </p:nvSpPr>
        <p:spPr>
          <a:xfrm>
            <a:off x="6229350" y="29502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6315075" y="3031490"/>
            <a:ext cx="247650" cy="25209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6800850" y="2830801"/>
            <a:ext cx="48196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训练时间节省超</a:t>
            </a:r>
            <a:r>
              <a:rPr lang="en-US" altLang="zh-CN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16%</a:t>
            </a:r>
            <a:endParaRPr lang="en-US" altLang="zh-CN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2"/>
            </p:custDataLst>
          </p:nvPr>
        </p:nvSpPr>
        <p:spPr>
          <a:xfrm>
            <a:off x="6800850" y="3155604"/>
            <a:ext cx="48196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归因于避免</a:t>
            </a:r>
            <a:r>
              <a:rPr lang="en-US" altLang="zh-CN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L_vlb</a:t>
            </a:r>
            <a:r>
              <a:rPr lang="zh-CN" altLang="en-US"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项计算与可学习方差梯度更新</a:t>
            </a:r>
            <a:endParaRPr lang="zh-CN" altLang="en-US"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6229350" y="421132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2738" t="-2933" r="-2738" b="-2933"/>
          <a:stretch>
            <a:fillRect/>
          </a:stretch>
        </p:blipFill>
        <p:spPr>
          <a:xfrm>
            <a:off x="6297930" y="4292600"/>
            <a:ext cx="281305" cy="25209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7"/>
            </p:custDataLst>
          </p:nvPr>
        </p:nvSpPr>
        <p:spPr>
          <a:xfrm>
            <a:off x="6800850" y="4091892"/>
            <a:ext cx="48196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实现复杂度显著降低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8"/>
            </p:custDataLst>
          </p:nvPr>
        </p:nvSpPr>
        <p:spPr>
          <a:xfrm>
            <a:off x="6800850" y="4416695"/>
            <a:ext cx="48196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代码实现复杂度与理解门槛大幅降低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9"/>
            </p:custDataLst>
          </p:nvPr>
        </p:nvSpPr>
        <p:spPr>
          <a:xfrm>
            <a:off x="6229350" y="54724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6522" t="-2933" r="-6522" b="-2933"/>
          <a:stretch>
            <a:fillRect/>
          </a:stretch>
        </p:blipFill>
        <p:spPr>
          <a:xfrm>
            <a:off x="6315075" y="5553710"/>
            <a:ext cx="247650" cy="25209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6800850" y="5352993"/>
            <a:ext cx="48196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可靠性验证通过</a:t>
            </a:r>
            <a:endParaRPr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4"/>
            </p:custDataLst>
          </p:nvPr>
        </p:nvSpPr>
        <p:spPr>
          <a:xfrm>
            <a:off x="6800850" y="5677795"/>
            <a:ext cx="481965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不同随机种子下性能趋势稳定，证实可靠性</a:t>
            </a:r>
            <a:endParaRPr sz="15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采样效率与生成质量权衡</a:t>
            </a:r>
            <a:endParaRPr sz="30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2"/>
            </p:custDataLst>
          </p:nvPr>
        </p:nvSpPr>
        <p:spPr>
          <a:xfrm>
            <a:off x="571500" y="5405120"/>
            <a:ext cx="3556000" cy="857250"/>
          </a:xfrm>
          <a:custGeom>
            <a:avLst/>
            <a:gdLst>
              <a:gd name="sw" fmla="*/ 1 w 5600"/>
              <a:gd name="sh" fmla="*/ 1 h 1350"/>
              <a:gd name="mins" fmla="min sw sh"/>
              <a:gd name="dsw" fmla="+- 0 sw mins"/>
              <a:gd name="dsh" fmla="+- 0 sh mins"/>
              <a:gd name="p0x0" fmla="*/ 210 w 5600"/>
              <a:gd name="p0y0" fmla="*/ 0 h 1350"/>
              <a:gd name="p0x1" fmla="*/ 5390 w 5600"/>
              <a:gd name="p0y1" fmla="*/ 0 h 1350"/>
              <a:gd name="p0x2" fmla="*/ 5506 w 5600"/>
              <a:gd name="p0y2" fmla="*/ 0 h 1350"/>
              <a:gd name="p0x3" fmla="*/ 5600 w 5600"/>
              <a:gd name="p0y3" fmla="*/ 94 h 1350"/>
              <a:gd name="p0x4" fmla="*/ 5600 w 5600"/>
              <a:gd name="p0y4" fmla="*/ 210 h 1350"/>
              <a:gd name="p0x5" fmla="*/ 5600 w 5600"/>
              <a:gd name="p0y5" fmla="*/ 1140 h 1350"/>
              <a:gd name="p0x6" fmla="*/ 5600 w 5600"/>
              <a:gd name="p0y6" fmla="*/ 1255 h 1350"/>
              <a:gd name="p0x7" fmla="*/ 5506 w 5600"/>
              <a:gd name="p0y7" fmla="*/ 1350 h 1350"/>
              <a:gd name="p0x8" fmla="*/ 5390 w 5600"/>
              <a:gd name="p0y8" fmla="*/ 1350 h 1350"/>
              <a:gd name="p0x9" fmla="*/ 210 w 5600"/>
              <a:gd name="p0y9" fmla="*/ 1350 h 1350"/>
              <a:gd name="p0x10" fmla="*/ 94 w 5600"/>
              <a:gd name="p0y10" fmla="*/ 1350 h 1350"/>
              <a:gd name="p0x11" fmla="*/ 0 w 5600"/>
              <a:gd name="p0y11" fmla="*/ 1255 h 1350"/>
              <a:gd name="p0x12" fmla="*/ 0 w 5600"/>
              <a:gd name="p0y12" fmla="*/ 1140 h 1350"/>
              <a:gd name="p0x13" fmla="*/ 0 w 5600"/>
              <a:gd name="p0y13" fmla="*/ 210 h 1350"/>
              <a:gd name="p0x14" fmla="*/ 0 w 5600"/>
              <a:gd name="p0y14" fmla="*/ 94 h 1350"/>
              <a:gd name="p0x15" fmla="*/ 94 w 5600"/>
              <a:gd name="p0y15" fmla="*/ 0 h 1350"/>
              <a:gd name="p0x16" fmla="*/ 210 w 5600"/>
              <a:gd name="p0y16" fmla="*/ 0 h 13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8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3"/>
            </p:custDataLst>
          </p:nvPr>
        </p:nvSpPr>
        <p:spPr>
          <a:xfrm>
            <a:off x="1164590" y="56622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1231265" y="5724525"/>
            <a:ext cx="209550" cy="21399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1622079" y="5519738"/>
            <a:ext cx="1912068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2100" b="1">
                <a:solidFill>
                  <a:srgbClr val="2A4A1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500</a:t>
            </a:r>
            <a:r>
              <a:rPr lang="zh-CN" sz="2100" b="1">
                <a:solidFill>
                  <a:srgbClr val="2A4A1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步</a:t>
            </a:r>
            <a:endParaRPr lang="zh-CN" sz="2100" b="1">
              <a:solidFill>
                <a:srgbClr val="2A4A1E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1622079" y="5910263"/>
            <a:ext cx="2092090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2A4A1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FID</a:t>
            </a:r>
            <a:r>
              <a:rPr lang="zh-CN" sz="1350">
                <a:solidFill>
                  <a:srgbClr val="2A4A1E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仅升</a:t>
            </a:r>
            <a:r>
              <a:rPr sz="1415" b="1" spc="-14">
                <a:solidFill>
                  <a:srgbClr val="2A4A1E"/>
                </a:solidFill>
                <a:latin typeface="Microsoft YaHei" panose="020B0503020204020204" charset="-122"/>
                <a:ea typeface="Microsoft YaHei" panose="020B0503020204020204" charset="-122"/>
              </a:rPr>
              <a:t>5.7%</a:t>
            </a:r>
            <a:r>
              <a:rPr sz="1350">
                <a:solidFill>
                  <a:srgbClr val="2A4A1E"/>
                </a:solidFill>
                <a:latin typeface="Microsoft YaHei" panose="020B0503020204020204" charset="-122"/>
                <a:ea typeface="Microsoft YaHei" panose="020B0503020204020204" charset="-122"/>
              </a:rPr>
              <a:t>，速度翻倍</a:t>
            </a:r>
            <a:endParaRPr sz="1350">
              <a:solidFill>
                <a:srgbClr val="2A4A1E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4318000" y="5405120"/>
            <a:ext cx="3556000" cy="857250"/>
          </a:xfrm>
          <a:custGeom>
            <a:avLst/>
            <a:gdLst>
              <a:gd name="sw" fmla="*/ 1 w 5600"/>
              <a:gd name="sh" fmla="*/ 1 h 1350"/>
              <a:gd name="mins" fmla="min sw sh"/>
              <a:gd name="dsw" fmla="+- 0 sw mins"/>
              <a:gd name="dsh" fmla="+- 0 sh mins"/>
              <a:gd name="p0x0" fmla="*/ 210 w 5600"/>
              <a:gd name="p0y0" fmla="*/ 0 h 1350"/>
              <a:gd name="p0x1" fmla="*/ 5390 w 5600"/>
              <a:gd name="p0y1" fmla="*/ 0 h 1350"/>
              <a:gd name="p0x2" fmla="*/ 5506 w 5600"/>
              <a:gd name="p0y2" fmla="*/ 0 h 1350"/>
              <a:gd name="p0x3" fmla="*/ 5600 w 5600"/>
              <a:gd name="p0y3" fmla="*/ 94 h 1350"/>
              <a:gd name="p0x4" fmla="*/ 5600 w 5600"/>
              <a:gd name="p0y4" fmla="*/ 210 h 1350"/>
              <a:gd name="p0x5" fmla="*/ 5600 w 5600"/>
              <a:gd name="p0y5" fmla="*/ 1140 h 1350"/>
              <a:gd name="p0x6" fmla="*/ 5600 w 5600"/>
              <a:gd name="p0y6" fmla="*/ 1255 h 1350"/>
              <a:gd name="p0x7" fmla="*/ 5506 w 5600"/>
              <a:gd name="p0y7" fmla="*/ 1350 h 1350"/>
              <a:gd name="p0x8" fmla="*/ 5390 w 5600"/>
              <a:gd name="p0y8" fmla="*/ 1350 h 1350"/>
              <a:gd name="p0x9" fmla="*/ 210 w 5600"/>
              <a:gd name="p0y9" fmla="*/ 1350 h 1350"/>
              <a:gd name="p0x10" fmla="*/ 94 w 5600"/>
              <a:gd name="p0y10" fmla="*/ 1350 h 1350"/>
              <a:gd name="p0x11" fmla="*/ 0 w 5600"/>
              <a:gd name="p0y11" fmla="*/ 1255 h 1350"/>
              <a:gd name="p0x12" fmla="*/ 0 w 5600"/>
              <a:gd name="p0y12" fmla="*/ 1140 h 1350"/>
              <a:gd name="p0x13" fmla="*/ 0 w 5600"/>
              <a:gd name="p0y13" fmla="*/ 210 h 1350"/>
              <a:gd name="p0x14" fmla="*/ 0 w 5600"/>
              <a:gd name="p0y14" fmla="*/ 94 h 1350"/>
              <a:gd name="p0x15" fmla="*/ 94 w 5600"/>
              <a:gd name="p0y15" fmla="*/ 0 h 1350"/>
              <a:gd name="p0x16" fmla="*/ 210 w 5600"/>
              <a:gd name="p0y16" fmla="*/ 0 h 13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0"/>
            </p:custDataLst>
          </p:nvPr>
        </p:nvSpPr>
        <p:spPr>
          <a:xfrm>
            <a:off x="4855845" y="56622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4922520" y="5724525"/>
            <a:ext cx="209550" cy="21399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5313312" y="5519738"/>
            <a:ext cx="2022577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2100" b="1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300</a:t>
            </a:r>
            <a:r>
              <a:rPr lang="zh-CN" sz="2100" b="1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步</a:t>
            </a:r>
            <a:endParaRPr lang="zh-CN" sz="2100" b="1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5313312" y="5910263"/>
            <a:ext cx="2202599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FID</a:t>
            </a:r>
            <a:r>
              <a:rPr lang="zh-CN"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升</a:t>
            </a:r>
            <a:r>
              <a:rPr sz="1415" b="1" spc="-14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14.2%</a:t>
            </a:r>
            <a:r>
              <a:rPr sz="135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，速度超三倍</a:t>
            </a:r>
            <a:endParaRPr sz="135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6"/>
            </p:custDataLst>
          </p:nvPr>
        </p:nvSpPr>
        <p:spPr>
          <a:xfrm>
            <a:off x="8064500" y="5405120"/>
            <a:ext cx="3556000" cy="857250"/>
          </a:xfrm>
          <a:custGeom>
            <a:avLst/>
            <a:gdLst>
              <a:gd name="sw" fmla="*/ 1 w 5600"/>
              <a:gd name="sh" fmla="*/ 1 h 1350"/>
              <a:gd name="mins" fmla="min sw sh"/>
              <a:gd name="dsw" fmla="+- 0 sw mins"/>
              <a:gd name="dsh" fmla="+- 0 sh mins"/>
              <a:gd name="p0x0" fmla="*/ 210 w 5600"/>
              <a:gd name="p0y0" fmla="*/ 0 h 1350"/>
              <a:gd name="p0x1" fmla="*/ 5390 w 5600"/>
              <a:gd name="p0y1" fmla="*/ 0 h 1350"/>
              <a:gd name="p0x2" fmla="*/ 5506 w 5600"/>
              <a:gd name="p0y2" fmla="*/ 0 h 1350"/>
              <a:gd name="p0x3" fmla="*/ 5600 w 5600"/>
              <a:gd name="p0y3" fmla="*/ 94 h 1350"/>
              <a:gd name="p0x4" fmla="*/ 5600 w 5600"/>
              <a:gd name="p0y4" fmla="*/ 210 h 1350"/>
              <a:gd name="p0x5" fmla="*/ 5600 w 5600"/>
              <a:gd name="p0y5" fmla="*/ 1140 h 1350"/>
              <a:gd name="p0x6" fmla="*/ 5600 w 5600"/>
              <a:gd name="p0y6" fmla="*/ 1255 h 1350"/>
              <a:gd name="p0x7" fmla="*/ 5506 w 5600"/>
              <a:gd name="p0y7" fmla="*/ 1350 h 1350"/>
              <a:gd name="p0x8" fmla="*/ 5390 w 5600"/>
              <a:gd name="p0y8" fmla="*/ 1350 h 1350"/>
              <a:gd name="p0x9" fmla="*/ 210 w 5600"/>
              <a:gd name="p0y9" fmla="*/ 1350 h 1350"/>
              <a:gd name="p0x10" fmla="*/ 94 w 5600"/>
              <a:gd name="p0y10" fmla="*/ 1350 h 1350"/>
              <a:gd name="p0x11" fmla="*/ 0 w 5600"/>
              <a:gd name="p0y11" fmla="*/ 1255 h 1350"/>
              <a:gd name="p0x12" fmla="*/ 0 w 5600"/>
              <a:gd name="p0y12" fmla="*/ 1140 h 1350"/>
              <a:gd name="p0x13" fmla="*/ 0 w 5600"/>
              <a:gd name="p0y13" fmla="*/ 210 h 1350"/>
              <a:gd name="p0x14" fmla="*/ 0 w 5600"/>
              <a:gd name="p0y14" fmla="*/ 94 h 1350"/>
              <a:gd name="p0x15" fmla="*/ 94 w 5600"/>
              <a:gd name="p0y15" fmla="*/ 0 h 1350"/>
              <a:gd name="p0x16" fmla="*/ 210 w 5600"/>
              <a:gd name="p0y16" fmla="*/ 0 h 13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CECE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7"/>
            </p:custDataLst>
          </p:nvPr>
        </p:nvSpPr>
        <p:spPr>
          <a:xfrm>
            <a:off x="8547100" y="56622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10 w 540"/>
              <a:gd name="p0y0" fmla="*/ 0 h 540"/>
              <a:gd name="p0x1" fmla="*/ 330 w 540"/>
              <a:gd name="p0y1" fmla="*/ 0 h 540"/>
              <a:gd name="p0x2" fmla="*/ 445 w 540"/>
              <a:gd name="p0y2" fmla="*/ 0 h 540"/>
              <a:gd name="p0x3" fmla="*/ 540 w 540"/>
              <a:gd name="p0y3" fmla="*/ 94 h 540"/>
              <a:gd name="p0x4" fmla="*/ 540 w 540"/>
              <a:gd name="p0y4" fmla="*/ 210 h 540"/>
              <a:gd name="p0x5" fmla="*/ 540 w 540"/>
              <a:gd name="p0y5" fmla="*/ 330 h 540"/>
              <a:gd name="p0x6" fmla="*/ 540 w 540"/>
              <a:gd name="p0y6" fmla="*/ 445 h 540"/>
              <a:gd name="p0x7" fmla="*/ 445 w 540"/>
              <a:gd name="p0y7" fmla="*/ 540 h 540"/>
              <a:gd name="p0x8" fmla="*/ 330 w 540"/>
              <a:gd name="p0y8" fmla="*/ 540 h 540"/>
              <a:gd name="p0x9" fmla="*/ 210 w 540"/>
              <a:gd name="p0y9" fmla="*/ 540 h 540"/>
              <a:gd name="p0x10" fmla="*/ 94 w 540"/>
              <a:gd name="p0y10" fmla="*/ 540 h 540"/>
              <a:gd name="p0x11" fmla="*/ 0 w 540"/>
              <a:gd name="p0y11" fmla="*/ 445 h 540"/>
              <a:gd name="p0x12" fmla="*/ 0 w 540"/>
              <a:gd name="p0y12" fmla="*/ 330 h 540"/>
              <a:gd name="p0x13" fmla="*/ 0 w 540"/>
              <a:gd name="p0y13" fmla="*/ 210 h 540"/>
              <a:gd name="p0x14" fmla="*/ 0 w 540"/>
              <a:gd name="p0y14" fmla="*/ 94 h 540"/>
              <a:gd name="p0x15" fmla="*/ 94 w 540"/>
              <a:gd name="p0y15" fmla="*/ 0 h 540"/>
              <a:gd name="p0x16" fmla="*/ 21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381" t="-9123" r="-2381" b="-9123"/>
          <a:stretch>
            <a:fillRect/>
          </a:stretch>
        </p:blipFill>
        <p:spPr>
          <a:xfrm>
            <a:off x="8613775" y="5724525"/>
            <a:ext cx="209550" cy="21399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9004621" y="5519738"/>
            <a:ext cx="2133076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2100" b="1">
                <a:solidFill>
                  <a:srgbClr val="4A171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200</a:t>
            </a:r>
            <a:r>
              <a:rPr lang="zh-CN" sz="2100" b="1">
                <a:solidFill>
                  <a:srgbClr val="4A171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步</a:t>
            </a:r>
            <a:endParaRPr lang="zh-CN" sz="2100" b="1">
              <a:solidFill>
                <a:srgbClr val="4A171F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9004621" y="5910263"/>
            <a:ext cx="2313108" cy="2381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4A171F"/>
                </a:solidFill>
                <a:latin typeface="Microsoft YaHei" panose="020B0503020204020204" charset="-122"/>
                <a:ea typeface="Microsoft YaHei" panose="020B0503020204020204" charset="-122"/>
              </a:rPr>
              <a:t>FID</a:t>
            </a:r>
            <a:r>
              <a:rPr sz="1415" b="1" spc="-14">
                <a:solidFill>
                  <a:srgbClr val="4A171F"/>
                </a:solidFill>
                <a:latin typeface="Microsoft YaHei" panose="020B0503020204020204" charset="-122"/>
                <a:ea typeface="Microsoft YaHei" panose="020B0503020204020204" charset="-122"/>
              </a:rPr>
              <a:t>+32.7%</a:t>
            </a:r>
            <a:r>
              <a:rPr sz="1350">
                <a:solidFill>
                  <a:srgbClr val="4A171F"/>
                </a:solidFill>
                <a:latin typeface="Microsoft YaHei" panose="020B0503020204020204" charset="-122"/>
                <a:ea typeface="Microsoft YaHei" panose="020B0503020204020204" charset="-122"/>
              </a:rPr>
              <a:t>，质量急剧恶化</a:t>
            </a:r>
            <a:endParaRPr sz="1350">
              <a:solidFill>
                <a:srgbClr val="4A171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3"/>
            </p:custDataLst>
          </p:nvPr>
        </p:nvSpPr>
        <p:spPr>
          <a:xfrm>
            <a:off x="575945" y="1109345"/>
            <a:ext cx="11039475" cy="3848100"/>
          </a:xfrm>
          <a:custGeom>
            <a:avLst/>
            <a:gdLst>
              <a:gd name="sw" fmla="*/ 1 w 17385"/>
              <a:gd name="sh" fmla="*/ 1 h 6060"/>
              <a:gd name="mins" fmla="min sw sh"/>
              <a:gd name="dsw" fmla="+- 0 sw mins"/>
              <a:gd name="dsh" fmla="+- 0 sh mins"/>
              <a:gd name="p0x0" fmla="*/ 210 w 17385"/>
              <a:gd name="p0y0" fmla="*/ 0 h 6060"/>
              <a:gd name="p0x1" fmla="*/ 17175 w 17385"/>
              <a:gd name="p0y1" fmla="*/ 0 h 6060"/>
              <a:gd name="p0x2" fmla="*/ 17290 w 17385"/>
              <a:gd name="p0y2" fmla="*/ 0 h 6060"/>
              <a:gd name="p0x3" fmla="*/ 17385 w 17385"/>
              <a:gd name="p0y3" fmla="*/ 94 h 6060"/>
              <a:gd name="p0x4" fmla="*/ 17385 w 17385"/>
              <a:gd name="p0y4" fmla="*/ 210 h 6060"/>
              <a:gd name="p0x5" fmla="*/ 17385 w 17385"/>
              <a:gd name="p0y5" fmla="*/ 5850 h 6060"/>
              <a:gd name="p0x6" fmla="*/ 17385 w 17385"/>
              <a:gd name="p0y6" fmla="*/ 5965 h 6060"/>
              <a:gd name="p0x7" fmla="*/ 17290 w 17385"/>
              <a:gd name="p0y7" fmla="*/ 6060 h 6060"/>
              <a:gd name="p0x8" fmla="*/ 17175 w 17385"/>
              <a:gd name="p0y8" fmla="*/ 6060 h 6060"/>
              <a:gd name="p0x9" fmla="*/ 210 w 17385"/>
              <a:gd name="p0y9" fmla="*/ 6060 h 6060"/>
              <a:gd name="p0x10" fmla="*/ 94 w 17385"/>
              <a:gd name="p0y10" fmla="*/ 6060 h 6060"/>
              <a:gd name="p0x11" fmla="*/ 0 w 17385"/>
              <a:gd name="p0y11" fmla="*/ 5965 h 6060"/>
              <a:gd name="p0x12" fmla="*/ 0 w 17385"/>
              <a:gd name="p0y12" fmla="*/ 5850 h 6060"/>
              <a:gd name="p0x13" fmla="*/ 0 w 17385"/>
              <a:gd name="p0y13" fmla="*/ 210 h 6060"/>
              <a:gd name="p0x14" fmla="*/ 0 w 17385"/>
              <a:gd name="p0y14" fmla="*/ 94 h 6060"/>
              <a:gd name="p0x15" fmla="*/ 94 w 17385"/>
              <a:gd name="p0y15" fmla="*/ 0 h 6060"/>
              <a:gd name="p0x16" fmla="*/ 210 w 17385"/>
              <a:gd name="p0y16" fmla="*/ 0 h 60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24"/>
            </p:custDataLst>
          </p:nvPr>
        </p:nvSpPr>
        <p:spPr>
          <a:xfrm>
            <a:off x="771525" y="1288732"/>
            <a:ext cx="10648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采样步数与性能权衡曲线</a:t>
            </a:r>
            <a:endParaRPr sz="2100" b="1" spc="42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pic>
        <p:nvPicPr>
          <p:cNvPr id="6" name="图片 5"/>
          <p:cNvPicPr/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771525" y="1714500"/>
            <a:ext cx="10648950" cy="30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结论与展望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主要结论</a:t>
            </a:r>
            <a:endParaRPr sz="30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210 w 4970"/>
              <a:gd name="p0y0" fmla="*/ 0 h 8445"/>
              <a:gd name="p0x1" fmla="*/ 4760 w 4970"/>
              <a:gd name="p0y1" fmla="*/ 0 h 8445"/>
              <a:gd name="p0x2" fmla="*/ 4876 w 4970"/>
              <a:gd name="p0y2" fmla="*/ 0 h 8445"/>
              <a:gd name="p0x3" fmla="*/ 4970 w 4970"/>
              <a:gd name="p0y3" fmla="*/ 94 h 8445"/>
              <a:gd name="p0x4" fmla="*/ 4970 w 4970"/>
              <a:gd name="p0y4" fmla="*/ 210 h 8445"/>
              <a:gd name="p0x5" fmla="*/ 4970 w 4970"/>
              <a:gd name="p0y5" fmla="*/ 8235 h 8445"/>
              <a:gd name="p0x6" fmla="*/ 4970 w 4970"/>
              <a:gd name="p0y6" fmla="*/ 8350 h 8445"/>
              <a:gd name="p0x7" fmla="*/ 4876 w 4970"/>
              <a:gd name="p0y7" fmla="*/ 8445 h 8445"/>
              <a:gd name="p0x8" fmla="*/ 4760 w 4970"/>
              <a:gd name="p0y8" fmla="*/ 8445 h 8445"/>
              <a:gd name="p0x9" fmla="*/ 210 w 4970"/>
              <a:gd name="p0y9" fmla="*/ 8445 h 8445"/>
              <a:gd name="p0x10" fmla="*/ 94 w 4970"/>
              <a:gd name="p0y10" fmla="*/ 8445 h 8445"/>
              <a:gd name="p0x11" fmla="*/ 0 w 4970"/>
              <a:gd name="p0y11" fmla="*/ 8350 h 8445"/>
              <a:gd name="p0x12" fmla="*/ 0 w 4970"/>
              <a:gd name="p0y12" fmla="*/ 8235 h 8445"/>
              <a:gd name="p0x13" fmla="*/ 0 w 4970"/>
              <a:gd name="p0y13" fmla="*/ 210 h 8445"/>
              <a:gd name="p0x14" fmla="*/ 0 w 4970"/>
              <a:gd name="p0y14" fmla="*/ 94 h 8445"/>
              <a:gd name="p0x15" fmla="*/ 94 w 4970"/>
              <a:gd name="p0y15" fmla="*/ 0 h 8445"/>
              <a:gd name="p0x16" fmla="*/ 210 w 49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353820" y="25723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19649" r="-2000" b="-19649"/>
          <a:stretch>
            <a:fillRect/>
          </a:stretch>
        </p:blipFill>
        <p:spPr>
          <a:xfrm>
            <a:off x="1439545" y="2653665"/>
            <a:ext cx="247650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754457" y="2599392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噪声调度</a:t>
            </a:r>
            <a:endParaRPr sz="21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309611" y="3111837"/>
            <a:ext cx="1689868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42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&lt;5%</a:t>
            </a:r>
            <a:endParaRPr sz="4200" b="1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1756543" y="3833831"/>
            <a:ext cx="79593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FID</a:t>
            </a:r>
            <a:r>
              <a:rPr lang="zh-CN" sz="13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差距</a:t>
            </a:r>
            <a:endParaRPr lang="zh-CN" sz="13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425845" y="4261466"/>
            <a:ext cx="1457325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5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平方根</a:t>
            </a:r>
            <a:r>
              <a:rPr lang="en-US" altLang="zh-CN" sz="15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 ≈ </a:t>
            </a:r>
            <a:r>
              <a:rPr lang="zh-CN" altLang="en-US" sz="15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余弦</a:t>
            </a:r>
            <a:endParaRPr lang="zh-CN" altLang="en-US" sz="15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1658620" y="4732655"/>
            <a:ext cx="991235" cy="276225"/>
          </a:xfrm>
          <a:custGeom>
            <a:avLst/>
            <a:gdLst>
              <a:gd name="sw" fmla="*/ 1 w 1560"/>
              <a:gd name="sh" fmla="*/ 1 h 435"/>
              <a:gd name="mins" fmla="min sw sh"/>
              <a:gd name="dsw" fmla="+- 0 sw mins"/>
              <a:gd name="dsh" fmla="+- 0 sh mins"/>
              <a:gd name="p0x0" fmla="*/ 217 w 1560"/>
              <a:gd name="p0y0" fmla="*/ 0 h 435"/>
              <a:gd name="p0x1" fmla="*/ 1342 w 1560"/>
              <a:gd name="p0y1" fmla="*/ 0 h 435"/>
              <a:gd name="p0x2" fmla="*/ 1462 w 1560"/>
              <a:gd name="p0y2" fmla="*/ 0 h 435"/>
              <a:gd name="p0x3" fmla="*/ 1560 w 1560"/>
              <a:gd name="p0y3" fmla="*/ 97 h 435"/>
              <a:gd name="p0x4" fmla="*/ 1560 w 1560"/>
              <a:gd name="p0y4" fmla="*/ 217 h 435"/>
              <a:gd name="p0x5" fmla="*/ 1560 w 1560"/>
              <a:gd name="p0y5" fmla="*/ 337 h 435"/>
              <a:gd name="p0x6" fmla="*/ 1462 w 1560"/>
              <a:gd name="p0y6" fmla="*/ 435 h 435"/>
              <a:gd name="p0x7" fmla="*/ 1342 w 1560"/>
              <a:gd name="p0y7" fmla="*/ 435 h 435"/>
              <a:gd name="p0x8" fmla="*/ 217 w 1560"/>
              <a:gd name="p0y8" fmla="*/ 435 h 435"/>
              <a:gd name="p0x9" fmla="*/ 97 w 1560"/>
              <a:gd name="p0y9" fmla="*/ 435 h 435"/>
              <a:gd name="p0x10" fmla="*/ 0 w 1560"/>
              <a:gd name="p0y10" fmla="*/ 337 h 435"/>
              <a:gd name="p0x11" fmla="*/ 0 w 1560"/>
              <a:gd name="p0y11" fmla="*/ 217 h 435"/>
              <a:gd name="p0x12" fmla="*/ 0 w 1560"/>
              <a:gd name="p0y12" fmla="*/ 97 h 435"/>
              <a:gd name="p0x13" fmla="*/ 97 w 1560"/>
              <a:gd name="p0y13" fmla="*/ 0 h 435"/>
              <a:gd name="p0x14" fmla="*/ 217 w 156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1697307" y="4771053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轻量级替代</a:t>
            </a:r>
            <a:endParaRPr sz="120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3"/>
            </p:custDataLst>
          </p:nvPr>
        </p:nvSpPr>
        <p:spPr>
          <a:xfrm>
            <a:off x="398970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210 w 4970"/>
              <a:gd name="p0y0" fmla="*/ 0 h 8445"/>
              <a:gd name="p0x1" fmla="*/ 4760 w 4970"/>
              <a:gd name="p0y1" fmla="*/ 0 h 8445"/>
              <a:gd name="p0x2" fmla="*/ 4876 w 4970"/>
              <a:gd name="p0y2" fmla="*/ 0 h 8445"/>
              <a:gd name="p0x3" fmla="*/ 4970 w 4970"/>
              <a:gd name="p0y3" fmla="*/ 94 h 8445"/>
              <a:gd name="p0x4" fmla="*/ 4970 w 4970"/>
              <a:gd name="p0y4" fmla="*/ 210 h 8445"/>
              <a:gd name="p0x5" fmla="*/ 4970 w 4970"/>
              <a:gd name="p0y5" fmla="*/ 8235 h 8445"/>
              <a:gd name="p0x6" fmla="*/ 4970 w 4970"/>
              <a:gd name="p0y6" fmla="*/ 8350 h 8445"/>
              <a:gd name="p0x7" fmla="*/ 4876 w 4970"/>
              <a:gd name="p0y7" fmla="*/ 8445 h 8445"/>
              <a:gd name="p0x8" fmla="*/ 4760 w 4970"/>
              <a:gd name="p0y8" fmla="*/ 8445 h 8445"/>
              <a:gd name="p0x9" fmla="*/ 210 w 4970"/>
              <a:gd name="p0y9" fmla="*/ 8445 h 8445"/>
              <a:gd name="p0x10" fmla="*/ 94 w 4970"/>
              <a:gd name="p0y10" fmla="*/ 8445 h 8445"/>
              <a:gd name="p0x11" fmla="*/ 0 w 4970"/>
              <a:gd name="p0y11" fmla="*/ 8350 h 8445"/>
              <a:gd name="p0x12" fmla="*/ 0 w 4970"/>
              <a:gd name="p0y12" fmla="*/ 8235 h 8445"/>
              <a:gd name="p0x13" fmla="*/ 0 w 4970"/>
              <a:gd name="p0y13" fmla="*/ 210 h 8445"/>
              <a:gd name="p0x14" fmla="*/ 0 w 4970"/>
              <a:gd name="p0y14" fmla="*/ 94 h 8445"/>
              <a:gd name="p0x15" fmla="*/ 94 w 4970"/>
              <a:gd name="p0y15" fmla="*/ 0 h 8445"/>
              <a:gd name="p0x16" fmla="*/ 210 w 49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4"/>
            </p:custDataLst>
          </p:nvPr>
        </p:nvSpPr>
        <p:spPr>
          <a:xfrm>
            <a:off x="4767580" y="23799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2000" t="-897" r="-2000" b="-897"/>
          <a:stretch>
            <a:fillRect/>
          </a:stretch>
        </p:blipFill>
        <p:spPr>
          <a:xfrm>
            <a:off x="4853305" y="2461260"/>
            <a:ext cx="247650" cy="25209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5168198" y="240702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训练配置</a:t>
            </a:r>
            <a:endParaRPr sz="21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4838329" y="2921375"/>
            <a:ext cx="1459858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36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~9%</a:t>
            </a:r>
            <a:endParaRPr sz="3600" b="1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0"/>
            </p:custDataLst>
          </p:nvPr>
        </p:nvSpPr>
        <p:spPr>
          <a:xfrm>
            <a:off x="5214490" y="3550025"/>
            <a:ext cx="7074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20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FID</a:t>
            </a:r>
            <a:r>
              <a:rPr lang="zh-CN" sz="120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折衷</a:t>
            </a:r>
            <a:endParaRPr lang="zh-CN" sz="120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4701407" y="3889058"/>
            <a:ext cx="1733769" cy="6276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36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</a:rPr>
              <a:t>&gt;16%</a:t>
            </a:r>
            <a:endParaRPr sz="3600" b="1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2"/>
            </p:custDataLst>
          </p:nvPr>
        </p:nvSpPr>
        <p:spPr>
          <a:xfrm>
            <a:off x="5187258" y="4517708"/>
            <a:ext cx="7620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训练加速</a:t>
            </a:r>
            <a:endParaRPr sz="120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5148580" y="4925060"/>
            <a:ext cx="838835" cy="276225"/>
          </a:xfrm>
          <a:custGeom>
            <a:avLst/>
            <a:gdLst>
              <a:gd name="sw" fmla="*/ 1 w 1320"/>
              <a:gd name="sh" fmla="*/ 1 h 435"/>
              <a:gd name="mins" fmla="min sw sh"/>
              <a:gd name="dsw" fmla="+- 0 sw mins"/>
              <a:gd name="dsh" fmla="+- 0 sh mins"/>
              <a:gd name="p0x0" fmla="*/ 217 w 1320"/>
              <a:gd name="p0y0" fmla="*/ 0 h 435"/>
              <a:gd name="p0x1" fmla="*/ 1102 w 1320"/>
              <a:gd name="p0y1" fmla="*/ 0 h 435"/>
              <a:gd name="p0x2" fmla="*/ 1222 w 1320"/>
              <a:gd name="p0y2" fmla="*/ 0 h 435"/>
              <a:gd name="p0x3" fmla="*/ 1320 w 1320"/>
              <a:gd name="p0y3" fmla="*/ 97 h 435"/>
              <a:gd name="p0x4" fmla="*/ 1320 w 1320"/>
              <a:gd name="p0y4" fmla="*/ 217 h 435"/>
              <a:gd name="p0x5" fmla="*/ 1320 w 1320"/>
              <a:gd name="p0y5" fmla="*/ 337 h 435"/>
              <a:gd name="p0x6" fmla="*/ 1222 w 1320"/>
              <a:gd name="p0y6" fmla="*/ 435 h 435"/>
              <a:gd name="p0x7" fmla="*/ 1102 w 1320"/>
              <a:gd name="p0y7" fmla="*/ 435 h 435"/>
              <a:gd name="p0x8" fmla="*/ 217 w 1320"/>
              <a:gd name="p0y8" fmla="*/ 435 h 435"/>
              <a:gd name="p0x9" fmla="*/ 97 w 1320"/>
              <a:gd name="p0y9" fmla="*/ 435 h 435"/>
              <a:gd name="p0x10" fmla="*/ 0 w 1320"/>
              <a:gd name="p0y10" fmla="*/ 337 h 435"/>
              <a:gd name="p0x11" fmla="*/ 0 w 1320"/>
              <a:gd name="p0y11" fmla="*/ 217 h 435"/>
              <a:gd name="p0x12" fmla="*/ 0 w 1320"/>
              <a:gd name="p0y12" fmla="*/ 97 h 435"/>
              <a:gd name="p0x13" fmla="*/ 97 w 1320"/>
              <a:gd name="p0y13" fmla="*/ 0 h 435"/>
              <a:gd name="p0x14" fmla="*/ 217 w 1320"/>
              <a:gd name="p0y14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5187248" y="496342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5C4800"/>
                </a:solidFill>
                <a:latin typeface="Microsoft YaHei" panose="020B0503020204020204" charset="-122"/>
                <a:ea typeface="Microsoft YaHei" panose="020B0503020204020204" charset="-122"/>
              </a:rPr>
              <a:t>实现简化</a:t>
            </a:r>
            <a:endParaRPr sz="1200">
              <a:solidFill>
                <a:srgbClr val="5C48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7403465" y="1109345"/>
            <a:ext cx="4211955" cy="5362575"/>
          </a:xfrm>
          <a:custGeom>
            <a:avLst/>
            <a:gdLst>
              <a:gd name="sw" fmla="*/ 1 w 6633"/>
              <a:gd name="sh" fmla="*/ 1 h 8445"/>
              <a:gd name="mins" fmla="min sw sh"/>
              <a:gd name="dsw" fmla="+- 0 sw mins"/>
              <a:gd name="dsh" fmla="+- 0 sh mins"/>
              <a:gd name="p0x0" fmla="*/ 210 w 6633"/>
              <a:gd name="p0y0" fmla="*/ 0 h 8445"/>
              <a:gd name="p0x1" fmla="*/ 6423 w 6633"/>
              <a:gd name="p0y1" fmla="*/ 0 h 8445"/>
              <a:gd name="p0x2" fmla="*/ 6539 w 6633"/>
              <a:gd name="p0y2" fmla="*/ 0 h 8445"/>
              <a:gd name="p0x3" fmla="*/ 6633 w 6633"/>
              <a:gd name="p0y3" fmla="*/ 94 h 8445"/>
              <a:gd name="p0x4" fmla="*/ 6633 w 6633"/>
              <a:gd name="p0y4" fmla="*/ 210 h 8445"/>
              <a:gd name="p0x5" fmla="*/ 6633 w 6633"/>
              <a:gd name="p0y5" fmla="*/ 8235 h 8445"/>
              <a:gd name="p0x6" fmla="*/ 6633 w 6633"/>
              <a:gd name="p0y6" fmla="*/ 8350 h 8445"/>
              <a:gd name="p0x7" fmla="*/ 6539 w 6633"/>
              <a:gd name="p0y7" fmla="*/ 8445 h 8445"/>
              <a:gd name="p0x8" fmla="*/ 6423 w 6633"/>
              <a:gd name="p0y8" fmla="*/ 8445 h 8445"/>
              <a:gd name="p0x9" fmla="*/ 210 w 6633"/>
              <a:gd name="p0y9" fmla="*/ 8445 h 8445"/>
              <a:gd name="p0x10" fmla="*/ 94 w 6633"/>
              <a:gd name="p0y10" fmla="*/ 8445 h 8445"/>
              <a:gd name="p0x11" fmla="*/ 0 w 6633"/>
              <a:gd name="p0y11" fmla="*/ 8350 h 8445"/>
              <a:gd name="p0x12" fmla="*/ 0 w 6633"/>
              <a:gd name="p0y12" fmla="*/ 8235 h 8445"/>
              <a:gd name="p0x13" fmla="*/ 0 w 6633"/>
              <a:gd name="p0y13" fmla="*/ 210 h 8445"/>
              <a:gd name="p0x14" fmla="*/ 0 w 6633"/>
              <a:gd name="p0y14" fmla="*/ 94 h 8445"/>
              <a:gd name="p0x15" fmla="*/ 94 w 6633"/>
              <a:gd name="p0y15" fmla="*/ 0 h 8445"/>
              <a:gd name="p0x16" fmla="*/ 210 w 6633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AFAFB"/>
          </a:solidFill>
          <a:ln w="9525" cmpd="sng">
            <a:solidFill>
              <a:srgbClr val="EFF2F5"/>
            </a:solidFill>
            <a:prstDash val="solid"/>
          </a:ln>
          <a:effectLst>
            <a:outerShdw dist="38100" dir="5399999" algn="ctr" rotWithShape="0">
              <a:srgbClr val="1C1C1C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6"/>
            </p:custDataLst>
          </p:nvPr>
        </p:nvSpPr>
        <p:spPr>
          <a:xfrm>
            <a:off x="7598410" y="20662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210 w 660"/>
              <a:gd name="p0y0" fmla="*/ 0 h 660"/>
              <a:gd name="p0x1" fmla="*/ 450 w 660"/>
              <a:gd name="p0y1" fmla="*/ 0 h 660"/>
              <a:gd name="p0x2" fmla="*/ 565 w 660"/>
              <a:gd name="p0y2" fmla="*/ 0 h 660"/>
              <a:gd name="p0x3" fmla="*/ 660 w 660"/>
              <a:gd name="p0y3" fmla="*/ 94 h 660"/>
              <a:gd name="p0x4" fmla="*/ 660 w 660"/>
              <a:gd name="p0y4" fmla="*/ 210 h 660"/>
              <a:gd name="p0x5" fmla="*/ 660 w 660"/>
              <a:gd name="p0y5" fmla="*/ 450 h 660"/>
              <a:gd name="p0x6" fmla="*/ 660 w 660"/>
              <a:gd name="p0y6" fmla="*/ 565 h 660"/>
              <a:gd name="p0x7" fmla="*/ 565 w 660"/>
              <a:gd name="p0y7" fmla="*/ 660 h 660"/>
              <a:gd name="p0x8" fmla="*/ 450 w 660"/>
              <a:gd name="p0y8" fmla="*/ 660 h 660"/>
              <a:gd name="p0x9" fmla="*/ 210 w 660"/>
              <a:gd name="p0y9" fmla="*/ 660 h 660"/>
              <a:gd name="p0x10" fmla="*/ 94 w 660"/>
              <a:gd name="p0y10" fmla="*/ 660 h 660"/>
              <a:gd name="p0x11" fmla="*/ 0 w 660"/>
              <a:gd name="p0y11" fmla="*/ 565 h 660"/>
              <a:gd name="p0x12" fmla="*/ 0 w 660"/>
              <a:gd name="p0y12" fmla="*/ 450 h 660"/>
              <a:gd name="p0x13" fmla="*/ 0 w 660"/>
              <a:gd name="p0y13" fmla="*/ 210 h 660"/>
              <a:gd name="p0x14" fmla="*/ 0 w 660"/>
              <a:gd name="p0y14" fmla="*/ 94 h 660"/>
              <a:gd name="p0x15" fmla="*/ 94 w 660"/>
              <a:gd name="p0y15" fmla="*/ 0 h 660"/>
              <a:gd name="p0x16" fmla="*/ 21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7E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7684135" y="2146935"/>
            <a:ext cx="247650" cy="25273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8132417" y="2093224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推理采样</a:t>
            </a:r>
            <a:endParaRPr sz="210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31"/>
            </p:custDataLst>
          </p:nvPr>
        </p:nvSpPr>
        <p:spPr>
          <a:xfrm>
            <a:off x="7599017" y="2578046"/>
            <a:ext cx="3821459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4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300–500</a:t>
            </a:r>
            <a:r>
              <a:rPr lang="zh-CN" sz="2400" b="1">
                <a:solidFill>
                  <a:srgbClr val="FFC00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步</a:t>
            </a:r>
            <a:endParaRPr lang="zh-CN" sz="2400" b="1">
              <a:solidFill>
                <a:srgbClr val="FFC00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2"/>
            </p:custDataLst>
          </p:nvPr>
        </p:nvSpPr>
        <p:spPr>
          <a:xfrm>
            <a:off x="7599017" y="3003814"/>
            <a:ext cx="3821459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安全采样区间，</a:t>
            </a:r>
            <a:r>
              <a:rPr lang="en-US" altLang="zh-CN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FID</a:t>
            </a:r>
            <a:r>
              <a:rPr lang="zh-CN" altLang="en-US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增长</a:t>
            </a:r>
            <a:r>
              <a:rPr lang="en-US" altLang="zh-CN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&lt;15%</a:t>
            </a:r>
            <a:r>
              <a:rPr lang="zh-CN" altLang="en-US" sz="135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，实现数倍推理加速</a:t>
            </a:r>
            <a:endParaRPr lang="zh-CN" altLang="en-US" sz="135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7598410" y="3681730"/>
            <a:ext cx="3821430" cy="901700"/>
            <a:chOff x="11966" y="5798"/>
            <a:chExt cx="6018" cy="1420"/>
          </a:xfrm>
        </p:grpSpPr>
        <p:sp>
          <p:nvSpPr>
            <p:cNvPr id="29" name="任意多边形 28"/>
            <p:cNvSpPr/>
            <p:nvPr>
              <p:custDataLst>
                <p:tags r:id="rId33"/>
              </p:custDataLst>
            </p:nvPr>
          </p:nvSpPr>
          <p:spPr>
            <a:xfrm>
              <a:off x="11966" y="5798"/>
              <a:ext cx="6019" cy="1420"/>
            </a:xfrm>
            <a:custGeom>
              <a:avLst/>
              <a:gdLst>
                <a:gd name="sw" fmla="*/ 1 w 6018"/>
                <a:gd name="sh" fmla="*/ 1 h 1420"/>
                <a:gd name="mins" fmla="min sw sh"/>
                <a:gd name="dsw" fmla="+- 0 sw mins"/>
                <a:gd name="dsh" fmla="+- 0 sh mins"/>
                <a:gd name="p0x0" fmla="*/ 0 w 6018"/>
                <a:gd name="p0y0" fmla="*/ 0 h 1420"/>
                <a:gd name="p0x1" fmla="*/ 6018 w 6018"/>
                <a:gd name="p0y1" fmla="*/ 0 h 1420"/>
                <a:gd name="p0x2" fmla="*/ 6018 w 6018"/>
                <a:gd name="p0y2" fmla="*/ 1420 h 1420"/>
                <a:gd name="p0x3" fmla="*/ 0 w 6018"/>
                <a:gd name="p0y3" fmla="*/ 1420 h 1420"/>
                <a:gd name="p0x4" fmla="*/ 0 w 6018"/>
                <a:gd name="p0y4" fmla="*/ 0 h 14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任意多边形 29"/>
            <p:cNvSpPr/>
            <p:nvPr>
              <p:custDataLst>
                <p:tags r:id="rId34"/>
              </p:custDataLst>
            </p:nvPr>
          </p:nvSpPr>
          <p:spPr>
            <a:xfrm>
              <a:off x="11966" y="5798"/>
              <a:ext cx="6019" cy="15"/>
            </a:xfrm>
            <a:custGeom>
              <a:avLst/>
              <a:gdLst>
                <a:gd name="sw" fmla="*/ 1 w 6018"/>
                <a:gd name="sh" fmla="*/ 1 h 15"/>
                <a:gd name="mins" fmla="min sw sh"/>
                <a:gd name="dsw" fmla="+- 0 sw mins"/>
                <a:gd name="dsh" fmla="+- 0 sh mins"/>
                <a:gd name="p0x0" fmla="*/ 0 w 6018"/>
                <a:gd name="p0y0" fmla="*/ 0 h 15"/>
                <a:gd name="p0x1" fmla="*/ 6018 w 6018"/>
                <a:gd name="p0y1" fmla="*/ 0 h 15"/>
                <a:gd name="p0x2" fmla="*/ 6018 w 6018"/>
                <a:gd name="p0y2" fmla="*/ 15 h 15"/>
                <a:gd name="p0x3" fmla="*/ 0 w 6018"/>
                <a:gd name="p0y3" fmla="*/ 15 h 15"/>
                <a:gd name="p0x4" fmla="*/ 0 w 6018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DEEF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2" name="文本框 31"/>
          <p:cNvSpPr txBox="1"/>
          <p:nvPr>
            <p:custDataLst>
              <p:tags r:id="rId35"/>
            </p:custDataLst>
          </p:nvPr>
        </p:nvSpPr>
        <p:spPr>
          <a:xfrm>
            <a:off x="7599017" y="3791950"/>
            <a:ext cx="382145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000000"/>
                </a:solidFill>
                <a:latin typeface="Microsoft YaHei" panose="020B0503020204020204" charset="-122"/>
                <a:ea typeface="Microsoft YaHei" panose="020B0503020204020204" charset="-122"/>
              </a:rPr>
              <a:t>实践价值</a:t>
            </a:r>
            <a:endParaRPr sz="1350" b="1">
              <a:solidFill>
                <a:srgbClr val="00000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6"/>
            </p:custDataLst>
          </p:nvPr>
        </p:nvSpPr>
        <p:spPr>
          <a:xfrm>
            <a:off x="7599017" y="4084844"/>
            <a:ext cx="3821458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2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为</a:t>
            </a:r>
            <a:r>
              <a:rPr sz="12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资源受限</a:t>
            </a:r>
            <a:r>
              <a:rPr sz="12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、</a:t>
            </a:r>
            <a:r>
              <a:rPr sz="12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迭代效率</a:t>
            </a:r>
            <a:r>
              <a:rPr sz="12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优先或</a:t>
            </a:r>
            <a:r>
              <a:rPr sz="1200" b="1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教学演示</a:t>
            </a:r>
            <a:r>
              <a:rPr sz="1200">
                <a:solidFill>
                  <a:srgbClr val="3D4148"/>
                </a:solidFill>
                <a:latin typeface="Microsoft YaHei" panose="020B0503020204020204" charset="-122"/>
                <a:ea typeface="Microsoft YaHei" panose="020B0503020204020204" charset="-122"/>
              </a:rPr>
              <a:t>场景，提供经实证支持的简化配置指南</a:t>
            </a:r>
            <a:endParaRPr sz="1200">
              <a:solidFill>
                <a:srgbClr val="3D4148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7598410" y="4697730"/>
            <a:ext cx="3821430" cy="816610"/>
            <a:chOff x="11966" y="7398"/>
            <a:chExt cx="6018" cy="1286"/>
          </a:xfrm>
        </p:grpSpPr>
        <p:sp>
          <p:nvSpPr>
            <p:cNvPr id="34" name="任意多边形 33"/>
            <p:cNvSpPr/>
            <p:nvPr>
              <p:custDataLst>
                <p:tags r:id="rId37"/>
              </p:custDataLst>
            </p:nvPr>
          </p:nvSpPr>
          <p:spPr>
            <a:xfrm>
              <a:off x="11966" y="7398"/>
              <a:ext cx="6019" cy="1287"/>
            </a:xfrm>
            <a:custGeom>
              <a:avLst/>
              <a:gdLst>
                <a:gd name="sw" fmla="*/ 1 w 6018"/>
                <a:gd name="sh" fmla="*/ 1 h 1286"/>
                <a:gd name="mins" fmla="min sw sh"/>
                <a:gd name="dsw" fmla="+- 0 sw mins"/>
                <a:gd name="dsh" fmla="+- 0 sh mins"/>
                <a:gd name="p0x0" fmla="*/ 0 w 6018"/>
                <a:gd name="p0y0" fmla="*/ 0 h 1286"/>
                <a:gd name="p0x1" fmla="*/ 6018 w 6018"/>
                <a:gd name="p0y1" fmla="*/ 0 h 1286"/>
                <a:gd name="p0x2" fmla="*/ 6018 w 6018"/>
                <a:gd name="p0y2" fmla="*/ 1286 h 1286"/>
                <a:gd name="p0x3" fmla="*/ 0 w 6018"/>
                <a:gd name="p0y3" fmla="*/ 1286 h 1286"/>
                <a:gd name="p0x4" fmla="*/ 0 w 6018"/>
                <a:gd name="p0y4" fmla="*/ 0 h 128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任意多边形 34"/>
            <p:cNvSpPr/>
            <p:nvPr>
              <p:custDataLst>
                <p:tags r:id="rId38"/>
              </p:custDataLst>
            </p:nvPr>
          </p:nvSpPr>
          <p:spPr>
            <a:xfrm>
              <a:off x="11966" y="7398"/>
              <a:ext cx="6019" cy="15"/>
            </a:xfrm>
            <a:custGeom>
              <a:avLst/>
              <a:gdLst>
                <a:gd name="sw" fmla="*/ 1 w 6018"/>
                <a:gd name="sh" fmla="*/ 1 h 15"/>
                <a:gd name="mins" fmla="min sw sh"/>
                <a:gd name="dsw" fmla="+- 0 sw mins"/>
                <a:gd name="dsh" fmla="+- 0 sh mins"/>
                <a:gd name="p0x0" fmla="*/ 0 w 6018"/>
                <a:gd name="p0y0" fmla="*/ 0 h 15"/>
                <a:gd name="p0x1" fmla="*/ 6018 w 6018"/>
                <a:gd name="p0y1" fmla="*/ 0 h 15"/>
                <a:gd name="p0x2" fmla="*/ 6018 w 6018"/>
                <a:gd name="p0y2" fmla="*/ 15 h 15"/>
                <a:gd name="p0x3" fmla="*/ 0 w 6018"/>
                <a:gd name="p0y3" fmla="*/ 15 h 15"/>
                <a:gd name="p0x4" fmla="*/ 0 w 6018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DEEF2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7" name="文本框 36"/>
          <p:cNvSpPr txBox="1"/>
          <p:nvPr>
            <p:custDataLst>
              <p:tags r:id="rId39"/>
            </p:custDataLst>
          </p:nvPr>
        </p:nvSpPr>
        <p:spPr>
          <a:xfrm>
            <a:off x="7599017" y="4813383"/>
            <a:ext cx="3821459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 b="1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未来方向</a:t>
            </a:r>
            <a:endParaRPr sz="1200" b="1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0"/>
            </p:custDataLst>
          </p:nvPr>
        </p:nvSpPr>
        <p:spPr>
          <a:xfrm>
            <a:off x="7599017" y="5076273"/>
            <a:ext cx="3821459" cy="4428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D727A"/>
                </a:solidFill>
                <a:latin typeface="Microsoft YaHei" panose="020B0503020204020204" charset="-122"/>
                <a:ea typeface="Microsoft YaHei" panose="020B0503020204020204" charset="-122"/>
              </a:rPr>
              <a:t>大规模数据集验证泛化能力，结合快速采样算法构建全流程高效方案</a:t>
            </a:r>
            <a:endParaRPr sz="1050">
              <a:solidFill>
                <a:srgbClr val="6D727A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4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感谢聆听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88"/>
  <p:tag name="KSO_WM_TEMPLATE_CATEGORY" val="custom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188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88"/>
  <p:tag name="KSO_WM_TEMPLATE_CATEGORY" val="custom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88"/>
  <p:tag name="KSO_WM_TEMPLATE_CATEGORY" val="custom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2*b*1"/>
  <p:tag name="KSO_WM_UNIT_LAYERLEVEL" val="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6"/>
  <p:tag name="KSO_WM_UNIT_TYPE" val="b"/>
  <p:tag name="KSO_WM_UNIT_INDEX" val="1"/>
  <p:tag name="KSO_WM_TEMPLATE_INDEX" val="40490188"/>
  <p:tag name="KSO_WM_TEMPLATE_CATEGORY" val="custom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INDEX" val="40490188"/>
  <p:tag name="KSO_WM_TEMPLATE_CATEGORY" val="custom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88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VALUE" val="160"/>
  <p:tag name="KSO_WM_UNIT_ISNUMDGMTITLE" val="0"/>
  <p:tag name="KSO_WM_TEMPLATE_INDEX" val="40490188"/>
  <p:tag name="KSO_WM_TEMPLATE_CATEGORY" val="custom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VALUE" val="160"/>
  <p:tag name="KSO_WM_UNIT_ISNUMDGMTITLE" val="0"/>
  <p:tag name="KSO_WM_TEMPLATE_INDEX" val="40490188"/>
  <p:tag name="KSO_WM_TEMPLATE_CATEGORY" val="custom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88"/>
  <p:tag name="KSO_WM_TEMPLATE_CATEGORY" val="custom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188"/>
  <p:tag name="KSO_WM_TEMPLATE_CATEGORY" val="custom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188"/>
  <p:tag name="KSO_WM_TEMPLATE_CATEGORY" val="custom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188"/>
  <p:tag name="KSO_WM_TEMPLATE_CATEGORY" val="custom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188"/>
  <p:tag name="KSO_WM_TEMPLATE_CATEGORY" val="custom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88"/>
  <p:tag name="KSO_WM_TEMPLATE_CATEGORY" val="custom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188"/>
  <p:tag name="KSO_WM_TEMPLATE_CATEGORY" val="custom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88"/>
  <p:tag name="KSO_WM_TEMPLATE_CATEGORY" val="custom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188"/>
  <p:tag name="KSO_WM_TEMPLATE_CATEGORY" val="custom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88"/>
  <p:tag name="KSO_WM_TEMPLATE_CATEGORY" val="custom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88"/>
  <p:tag name="KSO_WM_TEMPLATE_CATEGORY" val="custom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188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188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50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0a9634c3e9899dabf7d68f06aed264e057c8f51e"/>
  <p:tag name="KSO_WM_NEWLAYOUT_ID" val="2939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52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88"/>
  <p:tag name="KSO_WM_TEMPLATE_CATEGORY" val="custom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88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188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59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c4cb9d5a7efcc3f97b238d9229b2876a3266c403"/>
  <p:tag name="KSO_WM_NEWLAYOUT_ID" val="2944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60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88"/>
  <p:tag name="KSO_WM_TEMPLATE_CATEGORY" val="custom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88"/>
  <p:tag name="KSO_WM_TEMPLATE_CATEGORY" val="custom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188"/>
  <p:tag name="KSO_WM_TEMPLATE_CATEGORY" val="custom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  <p:tag name="KSO_WM_UNIT_ISNUMDGMTITLE" val="0"/>
  <p:tag name="KSO_WM_UNIT_NOCLEAR" val="0"/>
  <p:tag name="KSO_WM_TEMPLATE_INDEX" val="40490188"/>
  <p:tag name="KSO_WM_TEMPLATE_CATEGORY" val="custom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90188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68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69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ca28da0e2a358c4bf69d20e030711d9b55419751"/>
  <p:tag name="KSO_WM_NEWLAYOUT_ID" val="2951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3064fadb69c9952bf16ca2e3a291a8df6cc05a6"/>
  <p:tag name="KSO_WM_NEWLAYOUT_ID" val="1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7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8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8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88"/>
  <p:tag name="KSO_WM_TEMPLATE_CATEGORY" val="custom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88"/>
  <p:tag name="KSO_WM_TEMPLATE_CATEGORY" val="custom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88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40490188"/>
  <p:tag name="KSO_WM_UNIT_ISNUMDGMTITLE" val="0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88"/>
  <p:tag name="KSO_WM_TEMPLATE_CATEGORY" val="custom"/>
</p:tagLst>
</file>

<file path=ppt/tags/tag94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90188"/>
  <p:tag name="KSO_WM_TEMPLATE_CATEGORY" val="custom"/>
  <p:tag name="KSO_WM_TEMPLATE_MASTER_TYPE" val="0"/>
  <p:tag name="KSO_WM_TAG_VERSION" val="3.0"/>
</p:tagLst>
</file>

<file path=ppt/tags/tag95.xml><?xml version="1.0" encoding="utf-8"?>
<p:tagLst xmlns:p="http://schemas.openxmlformats.org/presentationml/2006/main">
  <p:tag name="KSO_WM_AITEMPLATE_STYLE_ID" val="69796630423"/>
</p:tagLst>
</file>

<file path=ppt/tags/tag96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UNIT_PRESET_TEXT" val="20XX YEAR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9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0a9634c3e9899dabf7d68f06aed264e057c8f51e"/>
  <p:tag name="KSO_WM_NEWLAYOUT_ID" val="2939"/>
  <p:tag name="KSO_WM_UNIT_PRESET_TEXT" val="单击此处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98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99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90188"/>
  <p:tag name="KSO_WM_TEMPLATE_CATEGORY" val="custom"/>
  <p:tag name="KSO_WM_SLIDE_INDEX" val="1"/>
  <p:tag name="KSO_WM_SLIDE_ID" val="custom40490188_1"/>
  <p:tag name="KSO_WM_TEMPLATE_MASTER_TYPE" val="0"/>
  <p:tag name="KSO_WM_SLIDE_LAYOUT" val="a_f"/>
  <p:tag name="KSO_WM_SLIDE_LAYOUT_CNT" val="1_2"/>
  <p:tag name="KSO_WM_TAG_VERSION" val="3.0"/>
</p:tagLst>
</file>

<file path=ppt/tags/tag10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c4cb9d5a7efcc3f97b238d9229b2876a3266c403"/>
  <p:tag name="KSO_WM_NEWLAYOUT_ID" val="2944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118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11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88"/>
  <p:tag name="KSO_WM_TEMPLATE_CATEGORY" val="custom"/>
  <p:tag name="KSO_WM_SLIDE_INDEX" val="3"/>
  <p:tag name="KSO_WM_SLIDE_ID" val="custom40490188_7"/>
  <p:tag name="KSO_WM_TEMPLATE_MASTER_TYPE" val="0"/>
  <p:tag name="KSO_WM_SLIDE_LAYOUT" val="a_e"/>
  <p:tag name="KSO_WM_SLIDE_LAYOUT_CNT" val="1_1"/>
  <p:tag name="KSO_WM_TAG_VERSION" val="3.0"/>
</p:tagLst>
</file>

<file path=ppt/tags/tag12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c4cb9d5a7efcc3f97b238d9229b2876a3266c403"/>
  <p:tag name="KSO_WM_NEWLAYOUT_ID" val="2944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164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16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88"/>
  <p:tag name="KSO_WM_TEMPLATE_CATEGORY" val="custom"/>
  <p:tag name="KSO_WM_SLIDE_INDEX" val="3"/>
  <p:tag name="KSO_WM_SLIDE_ID" val="custom40490188_7"/>
  <p:tag name="KSO_WM_TEMPLATE_MASTER_TYPE" val="0"/>
  <p:tag name="KSO_WM_SLIDE_LAYOUT" val="a_e"/>
  <p:tag name="KSO_WM_SLIDE_LAYOUT_CNT" val="1_1"/>
  <p:tag name="KSO_WM_TAG_VERSION" val="3.0"/>
</p:tagLst>
</file>

<file path=ppt/tags/tag16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c4cb9d5a7efcc3f97b238d9229b2876a3266c403"/>
  <p:tag name="KSO_WM_NEWLAYOUT_ID" val="2944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283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284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88"/>
  <p:tag name="KSO_WM_TEMPLATE_CATEGORY" val="custom"/>
  <p:tag name="KSO_WM_SLIDE_INDEX" val="3"/>
  <p:tag name="KSO_WM_SLIDE_ID" val="custom40490188_7"/>
  <p:tag name="KSO_WM_TEMPLATE_MASTER_TYPE" val="0"/>
  <p:tag name="KSO_WM_SLIDE_LAYOUT" val="a_e"/>
  <p:tag name="KSO_WM_SLIDE_LAYOUT_CNT" val="1_1"/>
  <p:tag name="KSO_WM_TAG_VERSION" val="3.0"/>
</p:tagLst>
</file>

<file path=ppt/tags/tag28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c4cb9d5a7efcc3f97b238d9229b2876a3266c403"/>
  <p:tag name="KSO_WM_NEWLAYOUT_ID" val="2944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408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YPE" val="e"/>
  <p:tag name="KSO_WM_UNIT_PRESET_TEXT" val="01"/>
  <p:tag name="KSO_WM_FIGMA_FLAG" val="#fgm#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40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88"/>
  <p:tag name="KSO_WM_TEMPLATE_CATEGORY" val="custom"/>
  <p:tag name="KSO_WM_SLIDE_INDEX" val="3"/>
  <p:tag name="KSO_WM_SLIDE_ID" val="custom40490188_7"/>
  <p:tag name="KSO_WM_TEMPLATE_MASTER_TYPE" val="0"/>
  <p:tag name="KSO_WM_SLIDE_LAYOUT" val="a_e"/>
  <p:tag name="KSO_WM_SLIDE_LAYOUT_CNT" val="1_1"/>
  <p:tag name="KSO_WM_TAG_VERSION" val="3.0"/>
</p:tagLst>
</file>

<file path=ppt/tags/tag41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445.xml><?xml version="1.0" encoding="utf-8"?>
<p:tagLst xmlns:p="http://schemas.openxmlformats.org/presentationml/2006/main">
  <p:tag name="KSO_WM_UNIT_HIGHLIGHT" val="0"/>
  <p:tag name="KSO_WM_BEAUTIFY_FLAG" val="#wm#"/>
  <p:tag name="KSO_WM_UNIT_INDEX" val="1"/>
  <p:tag name="KSO_WM_UNIT_TEXT_TYPE" val="1"/>
  <p:tag name="KSO_WM_UNIT_TYPE" val="a"/>
  <p:tag name="KSO_WM_LAYOUT_CHECK_HASH" val="ca28da0e2a358c4bf69d20e030711d9b55419751"/>
  <p:tag name="KSO_WM_NEWLAYOUT_ID" val="2951"/>
  <p:tag name="KSO_WM_UNIT_PRESET_TEXT" val="谢谢观看"/>
  <p:tag name="KSO_WM_FIGMA_FLAG" val="#fgm#"/>
  <p:tag name="KSO_WM_UNIT_ID" val="_11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88"/>
  <p:tag name="KSO_WM_TEMPLATE_CATEGORY" val="custom"/>
</p:tagLst>
</file>

<file path=ppt/tags/tag446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90188"/>
  <p:tag name="KSO_WM_TEMPLATE_CATEGORY" val="custom"/>
  <p:tag name="KSO_WM_SLIDE_INDEX" val="5"/>
  <p:tag name="KSO_WM_SLIDE_ID" val="custom40490188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2873</Words>
  <Application>WPS 演示</Application>
  <PresentationFormat>宽屏</PresentationFormat>
  <Paragraphs>478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Arial</vt:lpstr>
      <vt:lpstr>SimSun</vt:lpstr>
      <vt:lpstr>Wingdings</vt:lpstr>
      <vt:lpstr>Microsoft YaHei</vt:lpstr>
      <vt:lpstr>Arial Unicode MS</vt:lpstr>
      <vt:lpstr>바탕체</vt:lpstr>
      <vt:lpstr>WPS</vt:lpstr>
      <vt:lpstr>Office 主题​​</vt:lpstr>
      <vt:lpstr>面向高效部署的扩散模型关键组件简化实证研究</vt:lpstr>
      <vt:lpstr>PowerPoint 演示文稿</vt:lpstr>
      <vt:lpstr>研究背景与动机</vt:lpstr>
      <vt:lpstr>PowerPoint 演示文稿</vt:lpstr>
      <vt:lpstr>PowerPoint 演示文稿</vt:lpstr>
      <vt:lpstr>核心组件与简化方法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实验与分析</vt:lpstr>
      <vt:lpstr>PowerPoint 演示文稿</vt:lpstr>
      <vt:lpstr>PowerPoint 演示文稿</vt:lpstr>
      <vt:lpstr>PowerPoint 演示文稿</vt:lpstr>
      <vt:lpstr>PowerPoint 演示文稿</vt:lpstr>
      <vt:lpstr>结论与展望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面向高效部署的扩散模型关键组件简化实证研究</dc:title>
  <dc:creator/>
  <cp:lastModifiedBy>酒空人散</cp:lastModifiedBy>
  <cp:revision>1</cp:revision>
  <dcterms:created xsi:type="dcterms:W3CDTF">2026-06-04T02:16:02Z</dcterms:created>
  <dcterms:modified xsi:type="dcterms:W3CDTF">2026-06-04T02:16:02Z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556B361410D4482AA2AF5FFB905215A5_13</vt:lpwstr>
  </property>
</Properties>
</file>